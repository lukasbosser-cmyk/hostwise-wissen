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76198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523961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8594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04792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09904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457188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333866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6095847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857828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7619809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38179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143771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90575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667733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429714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0" y="761980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0" y="1523961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0" y="2285942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0" y="3047923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0" y="3809904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0" y="4571885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0" y="5333866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0" y="6095847"/>
            <a:ext cx="12191695" cy="0"/>
          </a:xfrm>
          <a:custGeom>
            <a:avLst/>
            <a:gdLst/>
            <a:ahLst/>
            <a:cxnLst/>
            <a:rect l="l" t="t" r="r" b="b"/>
            <a:pathLst>
              <a:path w="12191695" h="0">
                <a:moveTo>
                  <a:pt x="0" y="0"/>
                </a:moveTo>
                <a:lnTo>
                  <a:pt x="12191695" y="0"/>
                </a:lnTo>
              </a:path>
            </a:pathLst>
          </a:custGeom>
          <a:noFill/>
          <a:ln w="9525">
            <a:solidFill>
              <a:srgbClr val="1A42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hw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475488" cy="4754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07592" y="548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F6F2EA"/>
                </a:solidFill>
                <a:latin typeface="DM Serif Display"/>
              </a:rPr>
              <a:t>hostwise</a:t>
            </a:r>
            <a:r>
              <a:rPr sz="24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640080"/>
            <a:ext cx="2130552" cy="347472"/>
          </a:xfrm>
          <a:prstGeom prst="rect">
            <a:avLst/>
          </a:prstGeom>
          <a:noFill/>
          <a:ln w="12700">
            <a:solidFill>
              <a:srgbClr val="E1A23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72600" y="640080"/>
            <a:ext cx="21305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spc="150">
                <a:solidFill>
                  <a:srgbClr val="E1A23E"/>
                </a:solidFill>
                <a:latin typeface="DM Mono"/>
              </a:rPr>
              <a:t>INTERVIEW-SYNTHESE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691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spc="250">
                <a:solidFill>
                  <a:srgbClr val="E1A23E"/>
                </a:solidFill>
                <a:latin typeface="DM Mono"/>
              </a:rPr>
              <a:t>VERMIETER-INTERVIEWS · OKTOBER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05740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>
                <a:solidFill>
                  <a:srgbClr val="F6F2EA"/>
                </a:solidFill>
                <a:latin typeface="DM Serif Display"/>
              </a:rPr>
              <a:t>Was Vermieter wirklich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000" b="0">
                <a:solidFill>
                  <a:srgbClr val="F6F2EA"/>
                </a:solidFill>
                <a:latin typeface="DM Serif Display"/>
              </a:rPr>
              <a:t>über ihre Preise sagen.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611880"/>
            <a:ext cx="8961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C6CFC7"/>
                </a:solidFill>
                <a:latin typeface="Inter"/>
              </a:rPr>
              <a:t>Sechs Gespräche, drei Interviewer, eine Richtung: was wir daraus für hostwise ableiten.</a:t>
            </a:r>
          </a:p>
        </p:txBody>
      </p:sp>
      <p:pic>
        <p:nvPicPr>
          <p:cNvPr id="32" name="Picture 31" descr="monik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572000"/>
            <a:ext cx="1024128" cy="10241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" y="5687568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spc="120">
                <a:solidFill>
                  <a:srgbClr val="C6CFC7"/>
                </a:solidFill>
                <a:latin typeface="DM Mono"/>
              </a:rPr>
              <a:t>MONIKA</a:t>
            </a:r>
          </a:p>
        </p:txBody>
      </p:sp>
      <p:pic>
        <p:nvPicPr>
          <p:cNvPr id="34" name="Picture 33" descr="thom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4572000"/>
            <a:ext cx="1024128" cy="10241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709928" y="5687568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spc="120">
                <a:solidFill>
                  <a:srgbClr val="C6CFC7"/>
                </a:solidFill>
                <a:latin typeface="DM Mono"/>
              </a:rPr>
              <a:t>THOMAS</a:t>
            </a:r>
          </a:p>
        </p:txBody>
      </p:sp>
      <p:pic>
        <p:nvPicPr>
          <p:cNvPr id="36" name="Picture 35" descr="an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936" y="4572000"/>
            <a:ext cx="1024128" cy="10241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825496" y="5687568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spc="120">
                <a:solidFill>
                  <a:srgbClr val="C6CFC7"/>
                </a:solidFill>
                <a:latin typeface="DM Mono"/>
              </a:rPr>
              <a:t>ANNA</a:t>
            </a:r>
          </a:p>
        </p:txBody>
      </p:sp>
      <p:pic>
        <p:nvPicPr>
          <p:cNvPr id="38" name="Picture 37" descr="len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2504" y="4572000"/>
            <a:ext cx="1024128" cy="102412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941064" y="5687568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spc="120">
                <a:solidFill>
                  <a:srgbClr val="C6CFC7"/>
                </a:solidFill>
                <a:latin typeface="DM Mono"/>
              </a:rPr>
              <a:t>LENA</a:t>
            </a:r>
          </a:p>
        </p:txBody>
      </p:sp>
      <p:pic>
        <p:nvPicPr>
          <p:cNvPr id="40" name="Picture 39" descr="petr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072" y="4572000"/>
            <a:ext cx="1024128" cy="102412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56632" y="5687568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spc="120">
                <a:solidFill>
                  <a:srgbClr val="C6CFC7"/>
                </a:solidFill>
                <a:latin typeface="DM Mono"/>
              </a:rPr>
              <a:t>PETRA</a:t>
            </a:r>
          </a:p>
        </p:txBody>
      </p:sp>
      <p:pic>
        <p:nvPicPr>
          <p:cNvPr id="42" name="Picture 41" descr="sab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572000"/>
            <a:ext cx="1024128" cy="10241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72200" y="5687568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spc="120">
                <a:solidFill>
                  <a:srgbClr val="C6CFC7"/>
                </a:solidFill>
                <a:latin typeface="DM Mono"/>
              </a:rPr>
              <a:t>SABINE</a:t>
            </a:r>
          </a:p>
        </p:txBody>
      </p:sp>
      <p:pic>
        <p:nvPicPr>
          <p:cNvPr id="44" name="Picture 43" descr="jona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9208" y="4572000"/>
            <a:ext cx="1024128" cy="102412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287768" y="5687568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spc="120">
                <a:solidFill>
                  <a:srgbClr val="C6CFC7"/>
                </a:solidFill>
                <a:latin typeface="DM Mono"/>
              </a:rPr>
              <a:t>JONAS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52628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E1A23E"/>
                </a:solidFill>
                <a:latin typeface="DM Serif Display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360" y="45262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20">
                <a:solidFill>
                  <a:srgbClr val="C6CFC7"/>
                </a:solidFill>
                <a:latin typeface="DM Mono"/>
              </a:rPr>
              <a:t>INTERVIEWS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498348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E1A23E"/>
                </a:solidFill>
                <a:latin typeface="DM Serif Display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360" y="49834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20">
                <a:solidFill>
                  <a:srgbClr val="C6CFC7"/>
                </a:solidFill>
                <a:latin typeface="DM Mono"/>
              </a:rPr>
              <a:t>GESPRÄCHSPARTNER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544068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E1A23E"/>
                </a:solidFill>
                <a:latin typeface="DM Serif Display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360" y="54406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20">
                <a:solidFill>
                  <a:srgbClr val="C6CFC7"/>
                </a:solidFill>
                <a:latin typeface="DM Mono"/>
              </a:rPr>
              <a:t>INTERVIEWER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32764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00">
                <a:solidFill>
                  <a:srgbClr val="C6CFC7"/>
                </a:solidFill>
                <a:latin typeface="DM Mono"/>
              </a:rPr>
              <a:t>LUKAS · OSKAR · MAXIMILIAN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33895" y="632764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spc="100">
                <a:solidFill>
                  <a:srgbClr val="C6CFC7"/>
                </a:solidFill>
                <a:latin typeface="DM Mono"/>
              </a:rPr>
              <a:t>ENTREPRENEURSHIP &amp; SERVICEENTWICKLUNG · HM WS 2026/27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ÜBERBLICK · WEN WIR GESPROCHEN HABEN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Sechs Gespräche, sechs Perspektiven auf dieselbe Frage: Lässt meine Ferienwohnung Geld liegen?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Methodik: simulierte Interviews auf Basis des Gesprächsleitfadens, je zwei pro Teammitglied, Oktober 2026.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2 /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103120"/>
            <a:ext cx="3423818" cy="18288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2" name="Picture 11" descr="mon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468879"/>
            <a:ext cx="1078992" cy="1078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48840" y="2377439"/>
            <a:ext cx="18236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DIE ERBIN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606039"/>
            <a:ext cx="1823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0312B"/>
                </a:solidFill>
                <a:latin typeface="DM Serif Display"/>
              </a:rPr>
              <a:t>Monika, 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971800"/>
            <a:ext cx="1823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Inter"/>
              </a:rPr>
              <a:t>Garmisch-Partenkirchen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Inter"/>
              </a:rPr>
              <a:t>2-Zimmer-Fewo, Airbnb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3493008"/>
            <a:ext cx="1600200" cy="246888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148840" y="3493008"/>
            <a:ext cx="1600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spc="80">
                <a:solidFill>
                  <a:srgbClr val="2E8B67"/>
                </a:solidFill>
                <a:latin typeface="DM Mono"/>
              </a:rPr>
              <a:t>INTERVIEW: LUKAS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3938" y="2103120"/>
            <a:ext cx="3423818" cy="18288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9" name="Picture 18" descr="tho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106" y="2468879"/>
            <a:ext cx="1078992" cy="10789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46978" y="2377439"/>
            <a:ext cx="18236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DER KAPITALANLEGER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6978" y="2606039"/>
            <a:ext cx="1823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0312B"/>
                </a:solidFill>
                <a:latin typeface="DM Serif Display"/>
              </a:rPr>
              <a:t>Thomas, 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6978" y="2971800"/>
            <a:ext cx="1823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Inter"/>
              </a:rPr>
              <a:t>Heringsdorf, Usedom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Inter"/>
              </a:rPr>
              <a:t>Fewo, Airbnb + Booking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46978" y="3493008"/>
            <a:ext cx="1600200" cy="246888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846978" y="3493008"/>
            <a:ext cx="1600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spc="80">
                <a:solidFill>
                  <a:srgbClr val="2E8B67"/>
                </a:solidFill>
                <a:latin typeface="DM Mono"/>
              </a:rPr>
              <a:t>INTERVIEW: LUKAS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2076" y="2103120"/>
            <a:ext cx="3423818" cy="18288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26" name="Picture 25" descr="a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804" y="2514600"/>
            <a:ext cx="804672" cy="804672"/>
          </a:xfrm>
          <a:prstGeom prst="rect">
            <a:avLst/>
          </a:prstGeom>
        </p:spPr>
      </p:pic>
      <p:pic>
        <p:nvPicPr>
          <p:cNvPr id="27" name="Picture 26" descr="le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0716" y="2514600"/>
            <a:ext cx="804672" cy="8046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90836" y="2377439"/>
            <a:ext cx="17778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DER BAUERNHOF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0836" y="2606039"/>
            <a:ext cx="17778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0312B"/>
                </a:solidFill>
                <a:latin typeface="DM Serif Display"/>
              </a:rPr>
              <a:t>Familie Huber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0836" y="2971800"/>
            <a:ext cx="17778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Inter"/>
              </a:rPr>
              <a:t>Chiemgau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Inter"/>
              </a:rPr>
              <a:t>4 Zimmer + 1 Fewo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90836" y="3493008"/>
            <a:ext cx="1600200" cy="246888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590836" y="3493008"/>
            <a:ext cx="1600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spc="80">
                <a:solidFill>
                  <a:srgbClr val="2E8B67"/>
                </a:solidFill>
                <a:latin typeface="DM Mono"/>
              </a:rPr>
              <a:t>INTERVIEW: OSKAR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114800"/>
            <a:ext cx="3423818" cy="18288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34" name="Picture 33" descr="pet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480560"/>
            <a:ext cx="1078992" cy="107899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148840" y="4389120"/>
            <a:ext cx="18236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DIE SUPERHOST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617720"/>
            <a:ext cx="1823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0312B"/>
                </a:solidFill>
                <a:latin typeface="DM Serif Display"/>
              </a:rPr>
              <a:t>Petra, 52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4983480"/>
            <a:ext cx="1823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Inter"/>
              </a:rPr>
              <a:t>Lindau, Bodensee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Inter"/>
              </a:rPr>
              <a:t>2 Fewos, Smart Pricing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48840" y="5504688"/>
            <a:ext cx="1600200" cy="246888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148840" y="5504688"/>
            <a:ext cx="1600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spc="80">
                <a:solidFill>
                  <a:srgbClr val="2E8B67"/>
                </a:solidFill>
                <a:latin typeface="DM Mono"/>
              </a:rPr>
              <a:t>INTERVIEW: OSKAR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3938" y="4114800"/>
            <a:ext cx="3423818" cy="18288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41" name="Picture 40" descr="sab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5106" y="4480560"/>
            <a:ext cx="1078992" cy="107899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846978" y="4389120"/>
            <a:ext cx="18236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DIE SELBSTNUTZERIN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6978" y="4617720"/>
            <a:ext cx="1823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0312B"/>
                </a:solidFill>
                <a:latin typeface="DM Serif Display"/>
              </a:rPr>
              <a:t>Sabine, 63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6978" y="4983480"/>
            <a:ext cx="1823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Inter"/>
              </a:rPr>
              <a:t>Oberstdorf, Allgäu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Inter"/>
              </a:rPr>
              <a:t>Zweitwohnung, Fewo-direkt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46978" y="5504688"/>
            <a:ext cx="1600200" cy="246888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846978" y="5504688"/>
            <a:ext cx="1600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spc="80">
                <a:solidFill>
                  <a:srgbClr val="2E8B67"/>
                </a:solidFill>
                <a:latin typeface="DM Mono"/>
              </a:rPr>
              <a:t>INTERVIEW: MAXIMILIAN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82076" y="4114800"/>
            <a:ext cx="3423818" cy="18288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48" name="Picture 47" descr="jona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3244" y="4480560"/>
            <a:ext cx="1078992" cy="10789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545116" y="4389120"/>
            <a:ext cx="182361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DER NEUEINSTEIGER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45116" y="4617720"/>
            <a:ext cx="182361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0312B"/>
                </a:solidFill>
                <a:latin typeface="DM Serif Display"/>
              </a:rPr>
              <a:t>Jonas, 34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45116" y="4983480"/>
            <a:ext cx="182361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Inter"/>
              </a:rPr>
              <a:t>Harz (geplant)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Inter"/>
              </a:rPr>
              <a:t>Kauf einer Fewo in Planung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45116" y="5504688"/>
            <a:ext cx="1600200" cy="246888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545116" y="5504688"/>
            <a:ext cx="16002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 spc="80">
                <a:solidFill>
                  <a:srgbClr val="2E8B67"/>
                </a:solidFill>
                <a:latin typeface="DM Mono"/>
              </a:rPr>
              <a:t>INTERVIEW: MAXIMILIAN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INTERVIEW 1 / 6 · GEFÜHRT VON LUKAS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Monika weiß, dass sie zu billig ist – aber nicht, um wie viel</a:t>
            </a:r>
          </a:p>
        </p:txBody>
      </p:sp>
      <p:sp>
        <p:nvSpPr>
          <p:cNvPr id="7" name="Freeform 6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3 / 13</a:t>
            </a:r>
          </a:p>
        </p:txBody>
      </p:sp>
      <p:pic>
        <p:nvPicPr>
          <p:cNvPr id="10" name="Picture 9" descr="mon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3120"/>
            <a:ext cx="1874519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1148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DIE ERBIN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43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0312B"/>
                </a:solidFill>
                <a:latin typeface="DM Serif Display"/>
              </a:rPr>
              <a:t>Monika, 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8920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Garmisch-Partenkirchen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2122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OBJEKT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2212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2-Zimmer-Fewo, Airbnb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50407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PREIS HEUTE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55040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95 € pauschal, seit 2021</a:t>
            </a:r>
          </a:p>
        </p:txBody>
      </p:sp>
      <p:sp>
        <p:nvSpPr>
          <p:cNvPr id="19" name="Freeform 18"/>
          <p:cNvSpPr/>
          <p:nvPr/>
        </p:nvSpPr>
        <p:spPr>
          <a:xfrm>
            <a:off x="3931920" y="2103120"/>
            <a:ext cx="0" cy="3794760"/>
          </a:xfrm>
          <a:custGeom>
            <a:avLst/>
            <a:gdLst/>
            <a:ahLst/>
            <a:cxnLst/>
            <a:rect l="l" t="t" r="r" b="b"/>
            <a:pathLst>
              <a:path w="0" h="3794760">
                <a:moveTo>
                  <a:pt x="0" y="0"/>
                </a:moveTo>
                <a:lnTo>
                  <a:pt x="0" y="379476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78308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0" b="0">
                <a:solidFill>
                  <a:srgbClr val="E1A23E"/>
                </a:solidFill>
                <a:latin typeface="DM Serif Display"/>
              </a:rPr>
              <a:t>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103120"/>
            <a:ext cx="675101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Im Dezember war alles innerhalb von zwei Tagen weg. Da war ich wohl zu billig. Aber wie viel zu billig, weiß ich nicht.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291840"/>
            <a:ext cx="2296058" cy="16002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34840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SCHMERZ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Einheitspreis seit 2021. Angst, dass nach einer Preiserhöhung niemand mehr bucht.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0898" y="3291840"/>
            <a:ext cx="2296058" cy="16002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13778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WERTVOLLSTES ELEMENT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3778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Saisonpreis-Tabelle zum Ausdrucken und ein neuer Inseratstext. Den Score versteht sie nicht.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09836" y="3291840"/>
            <a:ext cx="2296058" cy="160020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92716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E1A23E"/>
                </a:solidFill>
                <a:latin typeface="DM Mono"/>
              </a:rPr>
              <a:t>KONSEQUENZ FÜR UNS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2716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F6F2EA"/>
                </a:solidFill>
                <a:latin typeface="Inter"/>
              </a:rPr>
              <a:t>Tabelle auf Seite 1, Risiko jeder Preisempfehlung benennen, Rückruf anbieten.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5074920"/>
            <a:ext cx="7253935" cy="822960"/>
          </a:xfrm>
          <a:prstGeom prst="rect">
            <a:avLst/>
          </a:prstGeom>
          <a:solidFill>
            <a:srgbClr val="F5E6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Freeform 31"/>
          <p:cNvSpPr/>
          <p:nvPr/>
        </p:nvSpPr>
        <p:spPr>
          <a:xfrm>
            <a:off x="6669938" y="5193792"/>
            <a:ext cx="0" cy="585216"/>
          </a:xfrm>
          <a:custGeom>
            <a:avLst/>
            <a:gdLst/>
            <a:ahLst/>
            <a:cxnLst/>
            <a:rect l="l" t="t" r="r" b="b"/>
            <a:pathLst>
              <a:path w="0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/>
          <a:ln w="9525">
            <a:solidFill>
              <a:srgbClr val="E1A2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087916" y="5193792"/>
            <a:ext cx="0" cy="585216"/>
          </a:xfrm>
          <a:custGeom>
            <a:avLst/>
            <a:gdLst/>
            <a:ahLst/>
            <a:cxnLst/>
            <a:rect l="l" t="t" r="r" b="b"/>
            <a:pathLst>
              <a:path w="0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/>
          <a:ln w="9525">
            <a:solidFill>
              <a:srgbClr val="E1A2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ZAHLUNGSBEREITSCHAFT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422392"/>
            <a:ext cx="21436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100–150 € einmalig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2818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OFFENHEIT FÜR KI</a:t>
            </a:r>
          </a:p>
        </p:txBody>
      </p:sp>
      <p:sp>
        <p:nvSpPr>
          <p:cNvPr id="37" name="Oval 36"/>
          <p:cNvSpPr/>
          <p:nvPr/>
        </p:nvSpPr>
        <p:spPr>
          <a:xfrm>
            <a:off x="6852818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053986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255154" y="5541264"/>
            <a:ext cx="137160" cy="137160"/>
          </a:xfrm>
          <a:prstGeom prst="ellipse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7456322" y="5541264"/>
            <a:ext cx="137160" cy="137160"/>
          </a:xfrm>
          <a:prstGeom prst="ellipse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657490" y="5541264"/>
            <a:ext cx="137160" cy="137160"/>
          </a:xfrm>
          <a:prstGeom prst="ellipse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950098" y="54223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DM Mono"/>
              </a:rPr>
              <a:t>2 /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0796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PASSENDES PRODUKT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0796" y="5422392"/>
            <a:ext cx="21436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Komplett-Analyse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INTERVIEW 2 / 6 · GEFÜHRT VON LUKAS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Thomas kauft keine Empfehlung, sondern einen nachvollziehbaren Rechenweg</a:t>
            </a:r>
          </a:p>
        </p:txBody>
      </p:sp>
      <p:sp>
        <p:nvSpPr>
          <p:cNvPr id="7" name="Freeform 6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4 / 13</a:t>
            </a:r>
          </a:p>
        </p:txBody>
      </p:sp>
      <p:pic>
        <p:nvPicPr>
          <p:cNvPr id="10" name="Picture 9" descr="tho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3120"/>
            <a:ext cx="1874519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1148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DER KAPITALANLEGER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43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0312B"/>
                </a:solidFill>
                <a:latin typeface="DM Serif Display"/>
              </a:rPr>
              <a:t>Thomas, 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8920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Heringsdorf, Usedom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2122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OBJEKT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2212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Fewo, Airbnb + Booking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50407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PREIS HEUTE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55040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140 € / 80 € nach Saison</a:t>
            </a:r>
          </a:p>
        </p:txBody>
      </p:sp>
      <p:sp>
        <p:nvSpPr>
          <p:cNvPr id="19" name="Freeform 18"/>
          <p:cNvSpPr/>
          <p:nvPr/>
        </p:nvSpPr>
        <p:spPr>
          <a:xfrm>
            <a:off x="3931920" y="2103120"/>
            <a:ext cx="0" cy="3794760"/>
          </a:xfrm>
          <a:custGeom>
            <a:avLst/>
            <a:gdLst/>
            <a:ahLst/>
            <a:cxnLst/>
            <a:rect l="l" t="t" r="r" b="b"/>
            <a:pathLst>
              <a:path w="0" h="3794760">
                <a:moveTo>
                  <a:pt x="0" y="0"/>
                </a:moveTo>
                <a:lnTo>
                  <a:pt x="0" y="379476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78308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0" b="0">
                <a:solidFill>
                  <a:srgbClr val="E1A23E"/>
                </a:solidFill>
                <a:latin typeface="DM Serif Display"/>
              </a:rPr>
              <a:t>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103120"/>
            <a:ext cx="675101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Ich bin Ingenieur, ich will eine Ursache, nicht ein Gefühl.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291840"/>
            <a:ext cx="2296058" cy="16002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34840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SCHMERZ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2 % statt geplanter 4 % Rendite. Oktober bis März nur rund 25 % Auslastung, Ursache unklar.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0898" y="3291840"/>
            <a:ext cx="2296058" cy="16002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13778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WERTVOLLSTES ELEMENT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3778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Ertragslücke in Euro, aber mit Vergleichsobjekten und Rechenweg. Dazu Hebel für die Nebensaison.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09836" y="3291840"/>
            <a:ext cx="2296058" cy="160020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92716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E1A23E"/>
                </a:solidFill>
                <a:latin typeface="DM Mono"/>
              </a:rPr>
              <a:t>KONSEQUENZ FÜR UNS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2716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F6F2EA"/>
                </a:solidFill>
                <a:latin typeface="Inter"/>
              </a:rPr>
              <a:t>Rechenweg offenlegen, eigener Abschnitt Nebensaison, Monitor als Jahrespreis testen.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5074920"/>
            <a:ext cx="7253935" cy="822960"/>
          </a:xfrm>
          <a:prstGeom prst="rect">
            <a:avLst/>
          </a:prstGeom>
          <a:solidFill>
            <a:srgbClr val="F5E6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Freeform 31"/>
          <p:cNvSpPr/>
          <p:nvPr/>
        </p:nvSpPr>
        <p:spPr>
          <a:xfrm>
            <a:off x="6669938" y="5193792"/>
            <a:ext cx="0" cy="585216"/>
          </a:xfrm>
          <a:custGeom>
            <a:avLst/>
            <a:gdLst/>
            <a:ahLst/>
            <a:cxnLst/>
            <a:rect l="l" t="t" r="r" b="b"/>
            <a:pathLst>
              <a:path w="0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/>
          <a:ln w="9525">
            <a:solidFill>
              <a:srgbClr val="E1A2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087916" y="5193792"/>
            <a:ext cx="0" cy="585216"/>
          </a:xfrm>
          <a:custGeom>
            <a:avLst/>
            <a:gdLst/>
            <a:ahLst/>
            <a:cxnLst/>
            <a:rect l="l" t="t" r="r" b="b"/>
            <a:pathLst>
              <a:path w="0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/>
          <a:ln w="9525">
            <a:solidFill>
              <a:srgbClr val="E1A2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ZAHLUNGSBEREITSCHAFT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422392"/>
            <a:ext cx="21436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149 €, Abo 99 €/Jahr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2818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OFFENHEIT FÜR KI</a:t>
            </a:r>
          </a:p>
        </p:txBody>
      </p:sp>
      <p:sp>
        <p:nvSpPr>
          <p:cNvPr id="37" name="Oval 36"/>
          <p:cNvSpPr/>
          <p:nvPr/>
        </p:nvSpPr>
        <p:spPr>
          <a:xfrm>
            <a:off x="6852818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053986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255154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7456322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657490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950098" y="54223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DM Mono"/>
              </a:rPr>
              <a:t>5 /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0796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PASSENDES PRODUKT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0796" y="5422392"/>
            <a:ext cx="21436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Komplett-Analyse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INTERVIEW 3 / 6 · GEFÜHRT VON OSKAR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Familie Huber hat keine Zeit für Preise – und will kein Hotel-Tool</a:t>
            </a:r>
          </a:p>
        </p:txBody>
      </p:sp>
      <p:sp>
        <p:nvSpPr>
          <p:cNvPr id="7" name="Freeform 6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5 / 13</a:t>
            </a:r>
          </a:p>
        </p:txBody>
      </p:sp>
      <p:pic>
        <p:nvPicPr>
          <p:cNvPr id="10" name="Picture 9" descr="a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1600200" cy="1600200"/>
          </a:xfrm>
          <a:prstGeom prst="rect">
            <a:avLst/>
          </a:prstGeom>
        </p:spPr>
      </p:pic>
      <p:pic>
        <p:nvPicPr>
          <p:cNvPr id="11" name="Picture 10" descr="le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19" y="2148840"/>
            <a:ext cx="160020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41148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DER BAUERNHOF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43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0312B"/>
                </a:solidFill>
                <a:latin typeface="DM Serif Display"/>
              </a:rPr>
              <a:t>Familie Huber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8920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Chiemgau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2122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OBJEKT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2212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4 Zimmer + 1 Fewo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550407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PREIS HEUTE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55040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58 € mit Frühstück, seit 2019</a:t>
            </a:r>
          </a:p>
        </p:txBody>
      </p:sp>
      <p:sp>
        <p:nvSpPr>
          <p:cNvPr id="20" name="Freeform 19"/>
          <p:cNvSpPr/>
          <p:nvPr/>
        </p:nvSpPr>
        <p:spPr>
          <a:xfrm>
            <a:off x="3931920" y="2103120"/>
            <a:ext cx="0" cy="3794760"/>
          </a:xfrm>
          <a:custGeom>
            <a:avLst/>
            <a:gdLst/>
            <a:ahLst/>
            <a:cxnLst/>
            <a:rect l="l" t="t" r="r" b="b"/>
            <a:pathLst>
              <a:path w="0" h="3794760">
                <a:moveTo>
                  <a:pt x="0" y="0"/>
                </a:moveTo>
                <a:lnTo>
                  <a:pt x="0" y="379476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178308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0" b="0">
                <a:solidFill>
                  <a:srgbClr val="E1A23E"/>
                </a:solidFill>
                <a:latin typeface="DM Serif Display"/>
              </a:rPr>
              <a:t>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103120"/>
            <a:ext cx="675101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Mir ist wichtig, dass das jemand macht, der weiß, wie es auf einem Hof läuft. Wir sind kein Hotel.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291840"/>
            <a:ext cx="2296058" cy="16002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34840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SCHMERZ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Preise seit 2019 gleich, Kosten steigen. Fotos von 2015, keine Zeit für Seminare.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30898" y="3291840"/>
            <a:ext cx="2296058" cy="16002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913778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WERTVOLLSTES ELEMENT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3778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Vergleich mit Höfen der Region und Fototipps. Stammgäste behalten den alten Preis.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09836" y="3291840"/>
            <a:ext cx="2296058" cy="160020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392716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E1A23E"/>
                </a:solidFill>
                <a:latin typeface="DM Mono"/>
              </a:rPr>
              <a:t>KONSEQUENZ FÜR UNS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92716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F6F2EA"/>
                </a:solidFill>
                <a:latin typeface="Inter"/>
              </a:rPr>
              <a:t>Paket für mehrere Einheiten, Stammgast- und Neukundenpreise trennen, Vertrieb über den Verband.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5074920"/>
            <a:ext cx="7253935" cy="822960"/>
          </a:xfrm>
          <a:prstGeom prst="rect">
            <a:avLst/>
          </a:prstGeom>
          <a:solidFill>
            <a:srgbClr val="F5E6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Freeform 32"/>
          <p:cNvSpPr/>
          <p:nvPr/>
        </p:nvSpPr>
        <p:spPr>
          <a:xfrm>
            <a:off x="6669938" y="5193792"/>
            <a:ext cx="0" cy="585216"/>
          </a:xfrm>
          <a:custGeom>
            <a:avLst/>
            <a:gdLst/>
            <a:ahLst/>
            <a:cxnLst/>
            <a:rect l="l" t="t" r="r" b="b"/>
            <a:pathLst>
              <a:path w="0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/>
          <a:ln w="9525">
            <a:solidFill>
              <a:srgbClr val="E1A2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9087916" y="5193792"/>
            <a:ext cx="0" cy="585216"/>
          </a:xfrm>
          <a:custGeom>
            <a:avLst/>
            <a:gdLst/>
            <a:ahLst/>
            <a:cxnLst/>
            <a:rect l="l" t="t" r="r" b="b"/>
            <a:pathLst>
              <a:path w="0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/>
          <a:ln w="9525">
            <a:solidFill>
              <a:srgbClr val="E1A2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ZAHLUNGSBEREITSCHAFT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5422392"/>
            <a:ext cx="21436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150–200 € für 5 Einheiten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2818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OFFENHEIT FÜR KI</a:t>
            </a:r>
          </a:p>
        </p:txBody>
      </p:sp>
      <p:sp>
        <p:nvSpPr>
          <p:cNvPr id="38" name="Oval 37"/>
          <p:cNvSpPr/>
          <p:nvPr/>
        </p:nvSpPr>
        <p:spPr>
          <a:xfrm>
            <a:off x="6852818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053986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7255154" y="5541264"/>
            <a:ext cx="137160" cy="137160"/>
          </a:xfrm>
          <a:prstGeom prst="ellipse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456322" y="5541264"/>
            <a:ext cx="137160" cy="137160"/>
          </a:xfrm>
          <a:prstGeom prst="ellipse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7657490" y="5541264"/>
            <a:ext cx="137160" cy="137160"/>
          </a:xfrm>
          <a:prstGeom prst="ellipse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950098" y="54223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DM Mono"/>
              </a:rPr>
              <a:t>2 /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0796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PASSENDES PRODUKT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70796" y="5422392"/>
            <a:ext cx="21436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Hof-Paket (neu)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INTERVIEW 4 / 6 · GEFÜHRT VON OSKAR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Petra ist fast immer ausgebucht – und verdient trotzdem weniger als 2019</a:t>
            </a:r>
          </a:p>
        </p:txBody>
      </p:sp>
      <p:sp>
        <p:nvSpPr>
          <p:cNvPr id="7" name="Freeform 6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6 / 13</a:t>
            </a:r>
          </a:p>
        </p:txBody>
      </p:sp>
      <p:pic>
        <p:nvPicPr>
          <p:cNvPr id="10" name="Picture 9" descr="pe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3120"/>
            <a:ext cx="1874519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1148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DIE SUPERHOST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43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0312B"/>
                </a:solidFill>
                <a:latin typeface="DM Serif Display"/>
              </a:rPr>
              <a:t>Petra, 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8920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Lindau, Bodensee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2122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OBJEKT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2212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2 Fewos, Smart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50407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PREIS HEUTE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55040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Smart Pricing ab 89 €</a:t>
            </a:r>
          </a:p>
        </p:txBody>
      </p:sp>
      <p:sp>
        <p:nvSpPr>
          <p:cNvPr id="19" name="Freeform 18"/>
          <p:cNvSpPr/>
          <p:nvPr/>
        </p:nvSpPr>
        <p:spPr>
          <a:xfrm>
            <a:off x="3931920" y="2103120"/>
            <a:ext cx="0" cy="3794760"/>
          </a:xfrm>
          <a:custGeom>
            <a:avLst/>
            <a:gdLst/>
            <a:ahLst/>
            <a:cxnLst/>
            <a:rect l="l" t="t" r="r" b="b"/>
            <a:pathLst>
              <a:path w="0" h="3794760">
                <a:moveTo>
                  <a:pt x="0" y="0"/>
                </a:moveTo>
                <a:lnTo>
                  <a:pt x="0" y="379476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78308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0" b="0">
                <a:solidFill>
                  <a:srgbClr val="E1A23E"/>
                </a:solidFill>
                <a:latin typeface="DM Serif Display"/>
              </a:rPr>
              <a:t>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103120"/>
            <a:ext cx="675101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Ich glaube, Airbnb will einfach Buchungen. Was ich verdiene, ist denen egal.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291840"/>
            <a:ext cx="2296058" cy="16002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34840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SCHMERZ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85–90 % Auslastung, viele Einzelnächte, hoher Putzaufwand. Airbnb schlägt 82 € für August vor.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0898" y="3291840"/>
            <a:ext cx="2296058" cy="16002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13778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WERTVOLLSTES ELEMENT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3778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Vergleich von eigenem Preis, Markt und Airbnb-Vorschlag. Empfehlung zum Mindestaufenthalt.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09836" y="3291840"/>
            <a:ext cx="2296058" cy="160020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92716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E1A23E"/>
                </a:solidFill>
                <a:latin typeface="DM Mono"/>
              </a:rPr>
              <a:t>KONSEQUENZ FÜR UNS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2716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F6F2EA"/>
                </a:solidFill>
                <a:latin typeface="Inter"/>
              </a:rPr>
              <a:t>„Zweitmeinung zum Airbnb-Update“ als Ad-Hook. Smart Pricing besser einstellen statt ersetzen.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5074920"/>
            <a:ext cx="7253935" cy="822960"/>
          </a:xfrm>
          <a:prstGeom prst="rect">
            <a:avLst/>
          </a:prstGeom>
          <a:solidFill>
            <a:srgbClr val="F5E6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Freeform 31"/>
          <p:cNvSpPr/>
          <p:nvPr/>
        </p:nvSpPr>
        <p:spPr>
          <a:xfrm>
            <a:off x="6669938" y="5193792"/>
            <a:ext cx="0" cy="585216"/>
          </a:xfrm>
          <a:custGeom>
            <a:avLst/>
            <a:gdLst/>
            <a:ahLst/>
            <a:cxnLst/>
            <a:rect l="l" t="t" r="r" b="b"/>
            <a:pathLst>
              <a:path w="0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/>
          <a:ln w="9525">
            <a:solidFill>
              <a:srgbClr val="E1A2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087916" y="5193792"/>
            <a:ext cx="0" cy="585216"/>
          </a:xfrm>
          <a:custGeom>
            <a:avLst/>
            <a:gdLst/>
            <a:ahLst/>
            <a:cxnLst/>
            <a:rect l="l" t="t" r="r" b="b"/>
            <a:pathLst>
              <a:path w="0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/>
          <a:ln w="9525">
            <a:solidFill>
              <a:srgbClr val="E1A2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ZAHLUNGSBEREITSCHAFT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422392"/>
            <a:ext cx="21436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29 €, 149 € nach Beweis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2818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OFFENHEIT FÜR KI</a:t>
            </a:r>
          </a:p>
        </p:txBody>
      </p:sp>
      <p:sp>
        <p:nvSpPr>
          <p:cNvPr id="37" name="Oval 36"/>
          <p:cNvSpPr/>
          <p:nvPr/>
        </p:nvSpPr>
        <p:spPr>
          <a:xfrm>
            <a:off x="6852818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053986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255154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7456322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657490" y="5541264"/>
            <a:ext cx="137160" cy="137160"/>
          </a:xfrm>
          <a:prstGeom prst="ellipse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950098" y="54223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DM Mono"/>
              </a:rPr>
              <a:t>4 /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0796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PASSENDES PRODUKT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0796" y="5422392"/>
            <a:ext cx="21436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Quick-Check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INTERVIEW 5 / 6 · GEFÜHRT VON MAXIMILIAN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Sabine will ihre eigenen Urlaubswochen nach dem Ertrag planen</a:t>
            </a:r>
          </a:p>
        </p:txBody>
      </p:sp>
      <p:sp>
        <p:nvSpPr>
          <p:cNvPr id="7" name="Freeform 6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7 / 13</a:t>
            </a:r>
          </a:p>
        </p:txBody>
      </p:sp>
      <p:pic>
        <p:nvPicPr>
          <p:cNvPr id="10" name="Picture 9" descr="sab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3120"/>
            <a:ext cx="1874519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1148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DIE SELBSTNUTZERIN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43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0312B"/>
                </a:solidFill>
                <a:latin typeface="DM Serif Display"/>
              </a:rPr>
              <a:t>Sabine, 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8920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Oberstdorf, Allgäu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2122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OBJEKT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2212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Zweitwohnung, Fewo-direkt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50407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PREIS HEUTE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55040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75 €, vom Vorbesitzer</a:t>
            </a:r>
          </a:p>
        </p:txBody>
      </p:sp>
      <p:sp>
        <p:nvSpPr>
          <p:cNvPr id="19" name="Freeform 18"/>
          <p:cNvSpPr/>
          <p:nvPr/>
        </p:nvSpPr>
        <p:spPr>
          <a:xfrm>
            <a:off x="3931920" y="2103120"/>
            <a:ext cx="0" cy="3794760"/>
          </a:xfrm>
          <a:custGeom>
            <a:avLst/>
            <a:gdLst/>
            <a:ahLst/>
            <a:cxnLst/>
            <a:rect l="l" t="t" r="r" b="b"/>
            <a:pathLst>
              <a:path w="0" h="3794760">
                <a:moveTo>
                  <a:pt x="0" y="0"/>
                </a:moveTo>
                <a:lnTo>
                  <a:pt x="0" y="379476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78308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0" b="0">
                <a:solidFill>
                  <a:srgbClr val="E1A23E"/>
                </a:solidFill>
                <a:latin typeface="DM Serif Display"/>
              </a:rPr>
              <a:t>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103120"/>
            <a:ext cx="675101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Wenn ich sehe, dass der Februar Gold wert ist, fahre ich halt im März Ski.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291840"/>
            <a:ext cx="2296058" cy="16002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34840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SCHMERZ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Die Wohnung soll sich selbst tragen. Zweitwohnungsteuer gestiegen, Kurtaxe unklar.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0898" y="3291840"/>
            <a:ext cx="2296058" cy="16002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13778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WERTVOLLSTES ELEMENT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3778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Übersicht, welche Monate am meisten bringen, damit sie ihre eigenen Wochen danach legt.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09836" y="3291840"/>
            <a:ext cx="2296058" cy="160020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92716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E1A23E"/>
                </a:solidFill>
                <a:latin typeface="DM Mono"/>
              </a:rPr>
              <a:t>KONSEQUENZ FÜR UNS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2716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F6F2EA"/>
                </a:solidFill>
                <a:latin typeface="Inter"/>
              </a:rPr>
              <a:t>Eigennutzungs-Planer als Modul, einfache Sprache, Vertrieb über Google und Empfehlungen.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5074920"/>
            <a:ext cx="7253935" cy="822960"/>
          </a:xfrm>
          <a:prstGeom prst="rect">
            <a:avLst/>
          </a:prstGeom>
          <a:solidFill>
            <a:srgbClr val="F5E6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Freeform 31"/>
          <p:cNvSpPr/>
          <p:nvPr/>
        </p:nvSpPr>
        <p:spPr>
          <a:xfrm>
            <a:off x="6669938" y="5193792"/>
            <a:ext cx="0" cy="585216"/>
          </a:xfrm>
          <a:custGeom>
            <a:avLst/>
            <a:gdLst/>
            <a:ahLst/>
            <a:cxnLst/>
            <a:rect l="l" t="t" r="r" b="b"/>
            <a:pathLst>
              <a:path w="0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/>
          <a:ln w="9525">
            <a:solidFill>
              <a:srgbClr val="E1A2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087916" y="5193792"/>
            <a:ext cx="0" cy="585216"/>
          </a:xfrm>
          <a:custGeom>
            <a:avLst/>
            <a:gdLst/>
            <a:ahLst/>
            <a:cxnLst/>
            <a:rect l="l" t="t" r="r" b="b"/>
            <a:pathLst>
              <a:path w="0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/>
          <a:ln w="9525">
            <a:solidFill>
              <a:srgbClr val="E1A2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ZAHLUNGSBEREITSCHAFT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422392"/>
            <a:ext cx="21436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29 €, kein Abo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2818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OFFENHEIT FÜR KI</a:t>
            </a:r>
          </a:p>
        </p:txBody>
      </p:sp>
      <p:sp>
        <p:nvSpPr>
          <p:cNvPr id="37" name="Oval 36"/>
          <p:cNvSpPr/>
          <p:nvPr/>
        </p:nvSpPr>
        <p:spPr>
          <a:xfrm>
            <a:off x="6852818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053986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255154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7456322" y="5541264"/>
            <a:ext cx="137160" cy="137160"/>
          </a:xfrm>
          <a:prstGeom prst="ellipse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657490" y="5541264"/>
            <a:ext cx="137160" cy="137160"/>
          </a:xfrm>
          <a:prstGeom prst="ellipse">
            <a:avLst/>
          </a:prstGeom>
          <a:solidFill>
            <a:srgbClr val="D9D4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950098" y="54223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DM Mono"/>
              </a:rPr>
              <a:t>3 /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0796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PASSENDES PRODUKT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0796" y="5422392"/>
            <a:ext cx="21436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Quick-Check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INTERVIEW 6 / 6 · GEFÜHRT VON MAXIMILIAN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Jonas will vor dem Kauf wissen, was eine Wohnung wirklich einbringt</a:t>
            </a:r>
          </a:p>
        </p:txBody>
      </p:sp>
      <p:sp>
        <p:nvSpPr>
          <p:cNvPr id="7" name="Freeform 6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8 / 13</a:t>
            </a:r>
          </a:p>
        </p:txBody>
      </p:sp>
      <p:pic>
        <p:nvPicPr>
          <p:cNvPr id="10" name="Picture 9" descr="j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3120"/>
            <a:ext cx="1874519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41148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DER NEUEINSTEIGER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434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0312B"/>
                </a:solidFill>
                <a:latin typeface="DM Serif Display"/>
              </a:rPr>
              <a:t>Jonas, 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8920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Harz (geplant)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2122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OBJEKT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2212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Kauf einer Fewo in Planung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550407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100">
                <a:solidFill>
                  <a:srgbClr val="5C6B66"/>
                </a:solidFill>
                <a:latin typeface="DM Mono"/>
              </a:rPr>
              <a:t>PREIS HEUTE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550407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noch kein Inserat</a:t>
            </a:r>
          </a:p>
        </p:txBody>
      </p:sp>
      <p:sp>
        <p:nvSpPr>
          <p:cNvPr id="19" name="Freeform 18"/>
          <p:cNvSpPr/>
          <p:nvPr/>
        </p:nvSpPr>
        <p:spPr>
          <a:xfrm>
            <a:off x="3931920" y="2103120"/>
            <a:ext cx="0" cy="3794760"/>
          </a:xfrm>
          <a:custGeom>
            <a:avLst/>
            <a:gdLst/>
            <a:ahLst/>
            <a:cxnLst/>
            <a:rect l="l" t="t" r="r" b="b"/>
            <a:pathLst>
              <a:path w="0" h="3794760">
                <a:moveTo>
                  <a:pt x="0" y="0"/>
                </a:moveTo>
                <a:lnTo>
                  <a:pt x="0" y="379476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783080"/>
            <a:ext cx="548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0" b="0">
                <a:solidFill>
                  <a:srgbClr val="E1A23E"/>
                </a:solidFill>
                <a:latin typeface="DM Serif Display"/>
              </a:rPr>
              <a:t>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103120"/>
            <a:ext cx="6751015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0">
                <a:solidFill>
                  <a:srgbClr val="10312B"/>
                </a:solidFill>
                <a:latin typeface="DM Serif Display"/>
              </a:rPr>
              <a:t>Eine falsche Lage oder zu kleine Wohnung kann man später nicht mehr optimieren.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291840"/>
            <a:ext cx="2296058" cy="16002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34840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SCHMERZ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Exposés sind geschönt, AirDNA ist auf den US-Markt ausgelegt. Angst vor einem Fehlkauf.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30898" y="3291840"/>
            <a:ext cx="2296058" cy="160020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913778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WERTVOLLSTES ELEMENT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3778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Marktvergleich und Auslastung pro Monat, für drei Wohnungen nebeneinander.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09836" y="3291840"/>
            <a:ext cx="2296058" cy="160020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92716" y="3429000"/>
            <a:ext cx="193029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E1A23E"/>
                </a:solidFill>
                <a:latin typeface="DM Mono"/>
              </a:rPr>
              <a:t>KONSEQUENZ FÜR UNS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2716" y="3703320"/>
            <a:ext cx="193029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F6F2EA"/>
                </a:solidFill>
                <a:latin typeface="Inter"/>
              </a:rPr>
              <a:t>Kauf-Check als späteres Produkt, Datenherkunft offenlegen, Kanal über Makler und Finanzierer.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5074920"/>
            <a:ext cx="7253935" cy="822960"/>
          </a:xfrm>
          <a:prstGeom prst="rect">
            <a:avLst/>
          </a:prstGeom>
          <a:solidFill>
            <a:srgbClr val="F5E6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Freeform 31"/>
          <p:cNvSpPr/>
          <p:nvPr/>
        </p:nvSpPr>
        <p:spPr>
          <a:xfrm>
            <a:off x="6669938" y="5193792"/>
            <a:ext cx="0" cy="585216"/>
          </a:xfrm>
          <a:custGeom>
            <a:avLst/>
            <a:gdLst/>
            <a:ahLst/>
            <a:cxnLst/>
            <a:rect l="l" t="t" r="r" b="b"/>
            <a:pathLst>
              <a:path w="0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/>
          <a:ln w="9525">
            <a:solidFill>
              <a:srgbClr val="E1A2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087916" y="5193792"/>
            <a:ext cx="0" cy="585216"/>
          </a:xfrm>
          <a:custGeom>
            <a:avLst/>
            <a:gdLst/>
            <a:ahLst/>
            <a:cxnLst/>
            <a:rect l="l" t="t" r="r" b="b"/>
            <a:pathLst>
              <a:path w="0" h="585216">
                <a:moveTo>
                  <a:pt x="0" y="0"/>
                </a:moveTo>
                <a:lnTo>
                  <a:pt x="0" y="585216"/>
                </a:lnTo>
              </a:path>
            </a:pathLst>
          </a:custGeom>
          <a:noFill/>
          <a:ln w="9525">
            <a:solidFill>
              <a:srgbClr val="E1A23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ZAHLUNGSBEREITSCHAFT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422392"/>
            <a:ext cx="21436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bis 300 € vor dem Kauf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2818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OFFENHEIT FÜR KI</a:t>
            </a:r>
          </a:p>
        </p:txBody>
      </p:sp>
      <p:sp>
        <p:nvSpPr>
          <p:cNvPr id="37" name="Oval 36"/>
          <p:cNvSpPr/>
          <p:nvPr/>
        </p:nvSpPr>
        <p:spPr>
          <a:xfrm>
            <a:off x="6852818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053986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255154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7456322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657490" y="5541264"/>
            <a:ext cx="137160" cy="13716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950098" y="54223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C6B66"/>
                </a:solidFill>
                <a:latin typeface="DM Mono"/>
              </a:rPr>
              <a:t>5 /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0796" y="5184648"/>
            <a:ext cx="21436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PASSENDES PRODUKT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70796" y="5422392"/>
            <a:ext cx="214365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0312B"/>
                </a:solidFill>
                <a:latin typeface="Inter"/>
              </a:rPr>
              <a:t>Kauf-Check (neu)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QUERSCHNITT · ZAHLUNGSBEREITSCHAFT UND KI-OFFENHEIT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Thomas und Jonas sind unsere Early Adopter – Monika und die Hubers brauchen einen Menschen im Prozess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Einordnung durch das Team anhand der Interviewaussagen; qualitative Einschätzung, keine Messung.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9 /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103120"/>
            <a:ext cx="3474720" cy="1828800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709160" y="3931920"/>
            <a:ext cx="3474720" cy="1828800"/>
          </a:xfrm>
          <a:prstGeom prst="rect">
            <a:avLst/>
          </a:prstGeom>
          <a:solidFill>
            <a:srgbClr val="F5E6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234440" y="2103120"/>
            <a:ext cx="3474720" cy="1828800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234440" y="3931920"/>
            <a:ext cx="3474720" cy="1828800"/>
          </a:xfrm>
          <a:prstGeom prst="rect">
            <a:avLst/>
          </a:prstGeom>
          <a:solidFill>
            <a:srgbClr val="EFEAD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Freeform 14"/>
          <p:cNvSpPr/>
          <p:nvPr/>
        </p:nvSpPr>
        <p:spPr>
          <a:xfrm>
            <a:off x="1234440" y="5760720"/>
            <a:ext cx="7040879" cy="0"/>
          </a:xfrm>
          <a:custGeom>
            <a:avLst/>
            <a:gdLst/>
            <a:ahLst/>
            <a:cxnLst/>
            <a:rect l="l" t="t" r="r" b="b"/>
            <a:pathLst>
              <a:path w="7040879" h="0">
                <a:moveTo>
                  <a:pt x="0" y="0"/>
                </a:moveTo>
                <a:lnTo>
                  <a:pt x="7040879" y="0"/>
                </a:lnTo>
              </a:path>
            </a:pathLst>
          </a:custGeom>
          <a:noFill/>
          <a:ln w="15875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234440" y="2011679"/>
            <a:ext cx="0" cy="3749041"/>
          </a:xfrm>
          <a:custGeom>
            <a:avLst/>
            <a:gdLst/>
            <a:ahLst/>
            <a:cxnLst/>
            <a:rect l="l" t="t" r="r" b="b"/>
            <a:pathLst>
              <a:path w="0" h="3749041">
                <a:moveTo>
                  <a:pt x="0" y="3749041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10312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833872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spc="100">
                <a:solidFill>
                  <a:srgbClr val="5C6B66"/>
                </a:solidFill>
                <a:latin typeface="DM Mono"/>
              </a:rPr>
              <a:t>ZAHLUNGSBEREITSCHAFT →</a:t>
            </a:r>
          </a:p>
        </p:txBody>
      </p:sp>
      <p:sp>
        <p:nvSpPr>
          <p:cNvPr id="18" name="TextBox 17"/>
          <p:cNvSpPr txBox="1"/>
          <p:nvPr/>
        </p:nvSpPr>
        <p:spPr>
          <a:xfrm rot="16200000">
            <a:off x="-914400" y="3794759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 spc="100">
                <a:solidFill>
                  <a:srgbClr val="5C6B66"/>
                </a:solidFill>
                <a:latin typeface="DM Mono"/>
              </a:rPr>
              <a:t>OFFENHEIT FÜR KI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19" y="221284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spc="120">
                <a:solidFill>
                  <a:srgbClr val="B8862F"/>
                </a:solidFill>
                <a:latin typeface="DM Mono"/>
              </a:rPr>
              <a:t>EARLY ADOPTER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19" y="54406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spc="120">
                <a:solidFill>
                  <a:srgbClr val="B8862F"/>
                </a:solidFill>
                <a:latin typeface="DM Mono"/>
              </a:rPr>
              <a:t>BRAUCHT MENSCHEN IM PROZESS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212848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B8862F"/>
                </a:solidFill>
                <a:latin typeface="DM Mono"/>
              </a:rPr>
              <a:t>OFFEN, ABER PREISSENSIBEL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406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20">
                <a:solidFill>
                  <a:srgbClr val="B8862F"/>
                </a:solidFill>
                <a:latin typeface="DM Mono"/>
              </a:rPr>
              <a:t>VORSICHTIG UND PREISSENSIBEL</a:t>
            </a:r>
          </a:p>
        </p:txBody>
      </p:sp>
      <p:pic>
        <p:nvPicPr>
          <p:cNvPr id="23" name="Picture 22" descr="mon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4672584"/>
            <a:ext cx="713232" cy="7132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489704" y="541324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0312B"/>
                </a:solidFill>
                <a:latin typeface="Inter"/>
              </a:rPr>
              <a:t>Monika</a:t>
            </a:r>
          </a:p>
        </p:txBody>
      </p:sp>
      <p:pic>
        <p:nvPicPr>
          <p:cNvPr id="25" name="Picture 24" descr="tho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465" y="2331720"/>
            <a:ext cx="713232" cy="7132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67681" y="307238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0312B"/>
                </a:solidFill>
                <a:latin typeface="Inter"/>
              </a:rPr>
              <a:t>Thomas</a:t>
            </a:r>
          </a:p>
        </p:txBody>
      </p:sp>
      <p:pic>
        <p:nvPicPr>
          <p:cNvPr id="27" name="Picture 26" descr="a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744" y="4233672"/>
            <a:ext cx="713232" cy="713232"/>
          </a:xfrm>
          <a:prstGeom prst="rect">
            <a:avLst/>
          </a:prstGeom>
        </p:spPr>
      </p:pic>
      <p:pic>
        <p:nvPicPr>
          <p:cNvPr id="28" name="Picture 27" descr="le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007" y="4233672"/>
            <a:ext cx="713232" cy="7132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79592" y="497433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0312B"/>
                </a:solidFill>
                <a:latin typeface="Inter"/>
              </a:rPr>
              <a:t>Familie Huber</a:t>
            </a:r>
          </a:p>
        </p:txBody>
      </p:sp>
      <p:pic>
        <p:nvPicPr>
          <p:cNvPr id="30" name="Picture 29" descr="pet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4678" y="2770632"/>
            <a:ext cx="713232" cy="7132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126894" y="351129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0312B"/>
                </a:solidFill>
                <a:latin typeface="Inter"/>
              </a:rPr>
              <a:t>Petra</a:t>
            </a:r>
          </a:p>
        </p:txBody>
      </p:sp>
      <p:pic>
        <p:nvPicPr>
          <p:cNvPr id="32" name="Picture 31" descr="sab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9734" y="4014215"/>
            <a:ext cx="713232" cy="7132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31950" y="4754879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0312B"/>
                </a:solidFill>
                <a:latin typeface="Inter"/>
              </a:rPr>
              <a:t>Sabine</a:t>
            </a:r>
          </a:p>
        </p:txBody>
      </p:sp>
      <p:pic>
        <p:nvPicPr>
          <p:cNvPr id="34" name="Picture 33" descr="jona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3331" y="2551175"/>
            <a:ext cx="713232" cy="7132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35547" y="3291839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0312B"/>
                </a:solidFill>
                <a:latin typeface="Inter"/>
              </a:rPr>
              <a:t>Jonas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2103120"/>
            <a:ext cx="2864815" cy="1143000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23959" y="2221991"/>
            <a:ext cx="2499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Early Adopter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59" y="2514600"/>
            <a:ext cx="24990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THOMAS, JONAS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59" y="2743200"/>
            <a:ext cx="24990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Zuerst ansprechen: Komplett-Analyse plus Monitor, Zahlen und Rechenweg im Vordergrund.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3355848"/>
            <a:ext cx="2864815" cy="1143000"/>
          </a:xfrm>
          <a:prstGeom prst="rect">
            <a:avLst/>
          </a:prstGeom>
          <a:solidFill>
            <a:srgbClr val="F5E6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823959" y="3474720"/>
            <a:ext cx="2499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Mensch im Prozess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59" y="3767328"/>
            <a:ext cx="24990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MONIKA, FAMILIE HUBER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59" y="3995928"/>
            <a:ext cx="24990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Zahlen, wenn ein Mensch dahintersteht: Prüf-Hinweis und Rückruf zeigen.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41080" y="4608576"/>
            <a:ext cx="2864815" cy="1143000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823959" y="4727448"/>
            <a:ext cx="24990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Einstieg über 29 €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59" y="5020056"/>
            <a:ext cx="249905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B8862F"/>
                </a:solidFill>
                <a:latin typeface="DM Mono"/>
              </a:rPr>
              <a:t>PETRA, SABINE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59" y="5248656"/>
            <a:ext cx="24990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10312B"/>
                </a:solidFill>
                <a:latin typeface="Inter"/>
              </a:rPr>
              <a:t>Quick-Check als niedrige Hürde, Upsell erst nach sichtbarem Nutzen.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QUERSCHNITT · ZAHLUNGSBEREITSCHAFT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Die Einmalpreise tragen – das Monatsabo zu 39 € überzeugt kaum jemanden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Höchster im Interview genannter Einmalpreis. Hohler Punkt: Preis, den Petra erst nach einem sichtbaren Nutzen zahlen würde.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10 / 13</a:t>
            </a:r>
          </a:p>
        </p:txBody>
      </p:sp>
      <p:sp>
        <p:nvSpPr>
          <p:cNvPr id="11" name="Freeform 10"/>
          <p:cNvSpPr/>
          <p:nvPr/>
        </p:nvSpPr>
        <p:spPr>
          <a:xfrm>
            <a:off x="3294278" y="2286000"/>
            <a:ext cx="0" cy="3300984"/>
          </a:xfrm>
          <a:custGeom>
            <a:avLst/>
            <a:gdLst/>
            <a:ahLst/>
            <a:cxnLst/>
            <a:rect l="l" t="t" r="r" b="b"/>
            <a:pathLst>
              <a:path w="0" h="3300984">
                <a:moveTo>
                  <a:pt x="0" y="0"/>
                </a:moveTo>
                <a:lnTo>
                  <a:pt x="0" y="3300984"/>
                </a:lnTo>
              </a:path>
            </a:pathLst>
          </a:custGeom>
          <a:noFill/>
          <a:ln w="12700">
            <a:solidFill>
              <a:srgbClr val="B8862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2678" y="205740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spc="100">
                <a:solidFill>
                  <a:srgbClr val="B8862F"/>
                </a:solidFill>
                <a:latin typeface="DM Mono"/>
              </a:rPr>
              <a:t>QUICK-CHECK 29 €</a:t>
            </a:r>
          </a:p>
        </p:txBody>
      </p:sp>
      <p:sp>
        <p:nvSpPr>
          <p:cNvPr id="13" name="Freeform 12"/>
          <p:cNvSpPr/>
          <p:nvPr/>
        </p:nvSpPr>
        <p:spPr>
          <a:xfrm>
            <a:off x="5196230" y="2286000"/>
            <a:ext cx="0" cy="3300984"/>
          </a:xfrm>
          <a:custGeom>
            <a:avLst/>
            <a:gdLst/>
            <a:ahLst/>
            <a:cxnLst/>
            <a:rect l="l" t="t" r="r" b="b"/>
            <a:pathLst>
              <a:path w="0" h="3300984">
                <a:moveTo>
                  <a:pt x="0" y="0"/>
                </a:moveTo>
                <a:lnTo>
                  <a:pt x="0" y="3300984"/>
                </a:lnTo>
              </a:path>
            </a:pathLst>
          </a:custGeom>
          <a:noFill/>
          <a:ln w="12700">
            <a:solidFill>
              <a:srgbClr val="B8862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4630" y="205740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spc="100">
                <a:solidFill>
                  <a:srgbClr val="B8862F"/>
                </a:solidFill>
                <a:latin typeface="DM Mono"/>
              </a:rPr>
              <a:t>KOMPLETT-ANALYSE 149 €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56327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C6B66"/>
                </a:solidFill>
                <a:latin typeface="DM Mono"/>
              </a:rPr>
              <a:t>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2400" y="56327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C6B66"/>
                </a:solidFill>
                <a:latin typeface="DM Mono"/>
              </a:rPr>
              <a:t>100 €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47360" y="56327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C6B66"/>
                </a:solidFill>
                <a:latin typeface="DM Mono"/>
              </a:rPr>
              <a:t>200 €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6327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C6B66"/>
                </a:solidFill>
                <a:latin typeface="DM Mono"/>
              </a:rPr>
              <a:t>300 €</a:t>
            </a:r>
          </a:p>
        </p:txBody>
      </p:sp>
      <p:sp>
        <p:nvSpPr>
          <p:cNvPr id="19" name="Freeform 18"/>
          <p:cNvSpPr/>
          <p:nvPr/>
        </p:nvSpPr>
        <p:spPr>
          <a:xfrm>
            <a:off x="2834640" y="5586984"/>
            <a:ext cx="4754880" cy="0"/>
          </a:xfrm>
          <a:custGeom>
            <a:avLst/>
            <a:gdLst/>
            <a:ahLst/>
            <a:cxnLst/>
            <a:rect l="l" t="t" r="r" b="b"/>
            <a:pathLst>
              <a:path w="4754880" h="0">
                <a:moveTo>
                  <a:pt x="0" y="0"/>
                </a:moveTo>
                <a:lnTo>
                  <a:pt x="4754880" y="0"/>
                </a:lnTo>
              </a:path>
            </a:pathLst>
          </a:custGeom>
          <a:noFill/>
          <a:ln w="1270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057400"/>
            <a:ext cx="17218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spc="100">
                <a:solidFill>
                  <a:srgbClr val="B8862F"/>
                </a:solidFill>
                <a:latin typeface="DM Mono"/>
              </a:rPr>
              <a:t>MONATSABO 39 €?</a:t>
            </a:r>
          </a:p>
        </p:txBody>
      </p:sp>
      <p:pic>
        <p:nvPicPr>
          <p:cNvPr id="21" name="Picture 20" descr="mon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69464"/>
            <a:ext cx="402336" cy="4023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88720" y="263347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312B"/>
                </a:solidFill>
                <a:latin typeface="Inter"/>
              </a:rPr>
              <a:t>Monika</a:t>
            </a:r>
          </a:p>
        </p:txBody>
      </p:sp>
      <p:sp>
        <p:nvSpPr>
          <p:cNvPr id="23" name="Freeform 22"/>
          <p:cNvSpPr/>
          <p:nvPr/>
        </p:nvSpPr>
        <p:spPr>
          <a:xfrm>
            <a:off x="2834640" y="2770632"/>
            <a:ext cx="2377440" cy="0"/>
          </a:xfrm>
          <a:custGeom>
            <a:avLst/>
            <a:gdLst/>
            <a:ahLst/>
            <a:cxnLst/>
            <a:rect l="l" t="t" r="r" b="b"/>
            <a:pathLst>
              <a:path w="2377440" h="0">
                <a:moveTo>
                  <a:pt x="0" y="0"/>
                </a:moveTo>
                <a:lnTo>
                  <a:pt x="2377440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20640" y="2679192"/>
            <a:ext cx="182880" cy="18288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376672" y="26334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DM Mono"/>
              </a:rPr>
              <a:t>150 €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84080" y="2624328"/>
            <a:ext cx="1691640" cy="292608"/>
          </a:xfrm>
          <a:prstGeom prst="rect">
            <a:avLst/>
          </a:prstGeom>
          <a:solidFill>
            <a:srgbClr val="F2DD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784080" y="2624328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A4512F"/>
                </a:solidFill>
                <a:latin typeface="DM Mono"/>
              </a:rPr>
              <a:t>nein</a:t>
            </a:r>
          </a:p>
        </p:txBody>
      </p:sp>
      <p:sp>
        <p:nvSpPr>
          <p:cNvPr id="28" name="Freeform 27"/>
          <p:cNvSpPr/>
          <p:nvPr/>
        </p:nvSpPr>
        <p:spPr>
          <a:xfrm>
            <a:off x="685800" y="302666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6350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tho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81527"/>
            <a:ext cx="402336" cy="4023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88720" y="31455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312B"/>
                </a:solidFill>
                <a:latin typeface="Inter"/>
              </a:rPr>
              <a:t>Thomas</a:t>
            </a:r>
          </a:p>
        </p:txBody>
      </p:sp>
      <p:sp>
        <p:nvSpPr>
          <p:cNvPr id="31" name="Freeform 30"/>
          <p:cNvSpPr/>
          <p:nvPr/>
        </p:nvSpPr>
        <p:spPr>
          <a:xfrm>
            <a:off x="2834640" y="3282696"/>
            <a:ext cx="2361590" cy="0"/>
          </a:xfrm>
          <a:custGeom>
            <a:avLst/>
            <a:gdLst/>
            <a:ahLst/>
            <a:cxnLst/>
            <a:rect l="l" t="t" r="r" b="b"/>
            <a:pathLst>
              <a:path w="2361590" h="0">
                <a:moveTo>
                  <a:pt x="0" y="0"/>
                </a:moveTo>
                <a:lnTo>
                  <a:pt x="2361590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04790" y="3191256"/>
            <a:ext cx="182880" cy="18288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360822" y="314553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DM Mono"/>
              </a:rPr>
              <a:t>149 €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3136391"/>
            <a:ext cx="1691640" cy="292608"/>
          </a:xfrm>
          <a:prstGeom prst="rect">
            <a:avLst/>
          </a:prstGeom>
          <a:solidFill>
            <a:srgbClr val="F5E6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84080" y="3136391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B8862F"/>
                </a:solidFill>
                <a:latin typeface="DM Mono"/>
              </a:rPr>
              <a:t>lieber 99 €/Jahr</a:t>
            </a:r>
          </a:p>
        </p:txBody>
      </p:sp>
      <p:sp>
        <p:nvSpPr>
          <p:cNvPr id="36" name="Freeform 35"/>
          <p:cNvSpPr/>
          <p:nvPr/>
        </p:nvSpPr>
        <p:spPr>
          <a:xfrm>
            <a:off x="685800" y="3538728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6350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a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93592"/>
            <a:ext cx="402336" cy="4023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88720" y="365760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312B"/>
                </a:solidFill>
                <a:latin typeface="Inter"/>
              </a:rPr>
              <a:t>Familie Huber</a:t>
            </a:r>
          </a:p>
        </p:txBody>
      </p:sp>
      <p:sp>
        <p:nvSpPr>
          <p:cNvPr id="39" name="Freeform 38"/>
          <p:cNvSpPr/>
          <p:nvPr/>
        </p:nvSpPr>
        <p:spPr>
          <a:xfrm>
            <a:off x="2834640" y="3794760"/>
            <a:ext cx="3169920" cy="0"/>
          </a:xfrm>
          <a:custGeom>
            <a:avLst/>
            <a:gdLst/>
            <a:ahLst/>
            <a:cxnLst/>
            <a:rect l="l" t="t" r="r" b="b"/>
            <a:pathLst>
              <a:path w="3169920" h="0">
                <a:moveTo>
                  <a:pt x="0" y="0"/>
                </a:moveTo>
                <a:lnTo>
                  <a:pt x="3169920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13120" y="3703320"/>
            <a:ext cx="182880" cy="18288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69152" y="36576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DM Mono"/>
              </a:rPr>
              <a:t>200 € für 5 Einheiten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84080" y="3648456"/>
            <a:ext cx="1691640" cy="292608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784080" y="3648456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C6B66"/>
                </a:solidFill>
                <a:latin typeface="DM Mono"/>
              </a:rPr>
              <a:t>nicht gefragt</a:t>
            </a:r>
          </a:p>
        </p:txBody>
      </p:sp>
      <p:sp>
        <p:nvSpPr>
          <p:cNvPr id="44" name="Freeform 43"/>
          <p:cNvSpPr/>
          <p:nvPr/>
        </p:nvSpPr>
        <p:spPr>
          <a:xfrm>
            <a:off x="685800" y="4050791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6350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5" name="Picture 44" descr="pet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05656"/>
            <a:ext cx="402336" cy="40233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88720" y="4169663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312B"/>
                </a:solidFill>
                <a:latin typeface="Inter"/>
              </a:rPr>
              <a:t>Petra</a:t>
            </a:r>
          </a:p>
        </p:txBody>
      </p:sp>
      <p:sp>
        <p:nvSpPr>
          <p:cNvPr id="47" name="Freeform 46"/>
          <p:cNvSpPr/>
          <p:nvPr/>
        </p:nvSpPr>
        <p:spPr>
          <a:xfrm>
            <a:off x="2834640" y="4306824"/>
            <a:ext cx="459638" cy="0"/>
          </a:xfrm>
          <a:custGeom>
            <a:avLst/>
            <a:gdLst/>
            <a:ahLst/>
            <a:cxnLst/>
            <a:rect l="l" t="t" r="r" b="b"/>
            <a:pathLst>
              <a:path w="459638" h="0">
                <a:moveTo>
                  <a:pt x="0" y="0"/>
                </a:moveTo>
                <a:lnTo>
                  <a:pt x="459638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202838" y="4215384"/>
            <a:ext cx="182880" cy="18288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Freeform 48"/>
          <p:cNvSpPr/>
          <p:nvPr/>
        </p:nvSpPr>
        <p:spPr>
          <a:xfrm>
            <a:off x="3385718" y="4306824"/>
            <a:ext cx="1719072" cy="0"/>
          </a:xfrm>
          <a:custGeom>
            <a:avLst/>
            <a:gdLst/>
            <a:ahLst/>
            <a:cxnLst/>
            <a:rect l="l" t="t" r="r" b="b"/>
            <a:pathLst>
              <a:path w="1719072" h="0">
                <a:moveTo>
                  <a:pt x="0" y="0"/>
                </a:moveTo>
                <a:lnTo>
                  <a:pt x="1719072" y="0"/>
                </a:lnTo>
              </a:path>
            </a:pathLst>
          </a:custGeom>
          <a:noFill/>
          <a:ln w="15875">
            <a:solidFill>
              <a:srgbClr val="2E8B6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04790" y="4215384"/>
            <a:ext cx="182880" cy="182880"/>
          </a:xfrm>
          <a:prstGeom prst="ellipse">
            <a:avLst/>
          </a:prstGeom>
          <a:solidFill>
            <a:srgbClr val="F6F2EA"/>
          </a:solidFill>
          <a:ln w="19050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360822" y="416966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C6B66"/>
                </a:solidFill>
                <a:latin typeface="DM Mono"/>
              </a:rPr>
              <a:t>149 € nach Beweis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784080" y="4160520"/>
            <a:ext cx="1691640" cy="292608"/>
          </a:xfrm>
          <a:prstGeom prst="rect">
            <a:avLst/>
          </a:prstGeom>
          <a:solidFill>
            <a:srgbClr val="ECE5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784080" y="4160520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C6B66"/>
                </a:solidFill>
                <a:latin typeface="DM Mono"/>
              </a:rPr>
              <a:t>nicht gefragt</a:t>
            </a:r>
          </a:p>
        </p:txBody>
      </p:sp>
      <p:sp>
        <p:nvSpPr>
          <p:cNvPr id="54" name="Freeform 53"/>
          <p:cNvSpPr/>
          <p:nvPr/>
        </p:nvSpPr>
        <p:spPr>
          <a:xfrm>
            <a:off x="685800" y="4562856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6350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sab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617720"/>
            <a:ext cx="402336" cy="40233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88720" y="468172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312B"/>
                </a:solidFill>
                <a:latin typeface="Inter"/>
              </a:rPr>
              <a:t>Sabine</a:t>
            </a:r>
          </a:p>
        </p:txBody>
      </p:sp>
      <p:sp>
        <p:nvSpPr>
          <p:cNvPr id="57" name="Freeform 56"/>
          <p:cNvSpPr/>
          <p:nvPr/>
        </p:nvSpPr>
        <p:spPr>
          <a:xfrm>
            <a:off x="2834640" y="4818888"/>
            <a:ext cx="459638" cy="0"/>
          </a:xfrm>
          <a:custGeom>
            <a:avLst/>
            <a:gdLst/>
            <a:ahLst/>
            <a:cxnLst/>
            <a:rect l="l" t="t" r="r" b="b"/>
            <a:pathLst>
              <a:path w="459638" h="0">
                <a:moveTo>
                  <a:pt x="0" y="0"/>
                </a:moveTo>
                <a:lnTo>
                  <a:pt x="459638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202838" y="4727448"/>
            <a:ext cx="182880" cy="18288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458870" y="46817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DM Mono"/>
              </a:rPr>
              <a:t>29 €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84080" y="4672584"/>
            <a:ext cx="1691640" cy="292608"/>
          </a:xfrm>
          <a:prstGeom prst="rect">
            <a:avLst/>
          </a:prstGeom>
          <a:solidFill>
            <a:srgbClr val="F2DD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784080" y="4672584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A4512F"/>
                </a:solidFill>
                <a:latin typeface="DM Mono"/>
              </a:rPr>
              <a:t>nein</a:t>
            </a:r>
          </a:p>
        </p:txBody>
      </p:sp>
      <p:sp>
        <p:nvSpPr>
          <p:cNvPr id="62" name="Freeform 61"/>
          <p:cNvSpPr/>
          <p:nvPr/>
        </p:nvSpPr>
        <p:spPr>
          <a:xfrm>
            <a:off x="685800" y="5074920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6350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3" name="Picture 62" descr="jon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129784"/>
            <a:ext cx="402336" cy="40233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188720" y="51937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0312B"/>
                </a:solidFill>
                <a:latin typeface="Inter"/>
              </a:rPr>
              <a:t>Jonas</a:t>
            </a:r>
          </a:p>
        </p:txBody>
      </p:sp>
      <p:sp>
        <p:nvSpPr>
          <p:cNvPr id="65" name="Freeform 64"/>
          <p:cNvSpPr/>
          <p:nvPr/>
        </p:nvSpPr>
        <p:spPr>
          <a:xfrm>
            <a:off x="2834640" y="5330952"/>
            <a:ext cx="4754880" cy="0"/>
          </a:xfrm>
          <a:custGeom>
            <a:avLst/>
            <a:gdLst/>
            <a:ahLst/>
            <a:cxnLst/>
            <a:rect l="l" t="t" r="r" b="b"/>
            <a:pathLst>
              <a:path w="4754880" h="0">
                <a:moveTo>
                  <a:pt x="0" y="0"/>
                </a:moveTo>
                <a:lnTo>
                  <a:pt x="4754880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98080" y="5239512"/>
            <a:ext cx="182880" cy="182880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754112" y="51937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0312B"/>
                </a:solidFill>
                <a:latin typeface="DM Mono"/>
              </a:rPr>
              <a:t>300 € vor dem Kauf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784080" y="5184648"/>
            <a:ext cx="1691640" cy="292608"/>
          </a:xfrm>
          <a:prstGeom prst="rect">
            <a:avLst/>
          </a:prstGeom>
          <a:solidFill>
            <a:srgbClr val="DDED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784080" y="5184648"/>
            <a:ext cx="1691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2E8B67"/>
                </a:solidFill>
                <a:latin typeface="DM Mono"/>
              </a:rPr>
              <a:t>ja, im 1. Jahr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QUERSCHNITT · MUSTER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Fünf Muster ziehen sich durch die Gespräche</a:t>
            </a:r>
          </a:p>
        </p:txBody>
      </p:sp>
      <p:sp>
        <p:nvSpPr>
          <p:cNvPr id="7" name="Freeform 6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11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1097280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10312B"/>
                </a:solidFill>
                <a:latin typeface="DM Serif Display"/>
              </a:rPr>
              <a:t>6/6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671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312B"/>
                </a:solidFill>
                <a:latin typeface="Inter"/>
              </a:rPr>
              <a:t>Marktvergleich und Saisonpreise sind der Kern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4144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66"/>
                </a:solidFill>
                <a:latin typeface="Inter"/>
              </a:rPr>
              <a:t>Alle wollen sehen, wo sie im Vergleich stehen. Den Score nennt niemand als Mehrwert.</a:t>
            </a:r>
          </a:p>
        </p:txBody>
      </p:sp>
      <p:pic>
        <p:nvPicPr>
          <p:cNvPr id="13" name="Picture 12" descr="mon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176272"/>
            <a:ext cx="521207" cy="521207"/>
          </a:xfrm>
          <a:prstGeom prst="rect">
            <a:avLst/>
          </a:prstGeom>
        </p:spPr>
      </p:pic>
      <p:pic>
        <p:nvPicPr>
          <p:cNvPr id="14" name="Picture 13" descr="tho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176272"/>
            <a:ext cx="521207" cy="521207"/>
          </a:xfrm>
          <a:prstGeom prst="rect">
            <a:avLst/>
          </a:prstGeom>
        </p:spPr>
      </p:pic>
      <p:pic>
        <p:nvPicPr>
          <p:cNvPr id="15" name="Picture 14" descr="a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2176272"/>
            <a:ext cx="521207" cy="521207"/>
          </a:xfrm>
          <a:prstGeom prst="rect">
            <a:avLst/>
          </a:prstGeom>
        </p:spPr>
      </p:pic>
      <p:pic>
        <p:nvPicPr>
          <p:cNvPr id="16" name="Picture 15" descr="pet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2176272"/>
            <a:ext cx="521207" cy="521207"/>
          </a:xfrm>
          <a:prstGeom prst="rect">
            <a:avLst/>
          </a:prstGeom>
        </p:spPr>
      </p:pic>
      <p:pic>
        <p:nvPicPr>
          <p:cNvPr id="17" name="Picture 16" descr="sab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2176272"/>
            <a:ext cx="521207" cy="521207"/>
          </a:xfrm>
          <a:prstGeom prst="rect">
            <a:avLst/>
          </a:prstGeom>
        </p:spPr>
      </p:pic>
      <p:pic>
        <p:nvPicPr>
          <p:cNvPr id="18" name="Picture 17" descr="jon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0" y="2176272"/>
            <a:ext cx="521207" cy="521207"/>
          </a:xfrm>
          <a:prstGeom prst="rect">
            <a:avLst/>
          </a:prstGeom>
        </p:spPr>
      </p:pic>
      <p:sp>
        <p:nvSpPr>
          <p:cNvPr id="19" name="Freeform 18"/>
          <p:cNvSpPr/>
          <p:nvPr/>
        </p:nvSpPr>
        <p:spPr>
          <a:xfrm>
            <a:off x="685800" y="281635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816352"/>
            <a:ext cx="1097280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B8862F"/>
                </a:solidFill>
                <a:latin typeface="DM Serif Display"/>
              </a:rPr>
              <a:t>5/6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926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312B"/>
                </a:solidFill>
                <a:latin typeface="Inter"/>
              </a:rPr>
              <a:t>Vertrauen hat eine Bedingung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2004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66"/>
                </a:solidFill>
                <a:latin typeface="Inter"/>
              </a:rPr>
              <a:t>Ein Mensch, der prüft, ein offener Rechenweg oder Unabhängigkeit von der Plattform.</a:t>
            </a:r>
          </a:p>
        </p:txBody>
      </p:sp>
      <p:pic>
        <p:nvPicPr>
          <p:cNvPr id="23" name="Picture 22" descr="mon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935224"/>
            <a:ext cx="521207" cy="521207"/>
          </a:xfrm>
          <a:prstGeom prst="rect">
            <a:avLst/>
          </a:prstGeom>
        </p:spPr>
      </p:pic>
      <p:pic>
        <p:nvPicPr>
          <p:cNvPr id="24" name="Picture 23" descr="tho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935224"/>
            <a:ext cx="521207" cy="521207"/>
          </a:xfrm>
          <a:prstGeom prst="rect">
            <a:avLst/>
          </a:prstGeom>
        </p:spPr>
      </p:pic>
      <p:pic>
        <p:nvPicPr>
          <p:cNvPr id="25" name="Picture 24" descr="a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2935224"/>
            <a:ext cx="521207" cy="521207"/>
          </a:xfrm>
          <a:prstGeom prst="rect">
            <a:avLst/>
          </a:prstGeom>
        </p:spPr>
      </p:pic>
      <p:pic>
        <p:nvPicPr>
          <p:cNvPr id="26" name="Picture 25" descr="pet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2935224"/>
            <a:ext cx="521207" cy="521207"/>
          </a:xfrm>
          <a:prstGeom prst="rect">
            <a:avLst/>
          </a:prstGeom>
        </p:spPr>
      </p:pic>
      <p:pic>
        <p:nvPicPr>
          <p:cNvPr id="27" name="Picture 26" descr="sabine_fa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4432" y="2935224"/>
            <a:ext cx="521207" cy="521207"/>
          </a:xfrm>
          <a:prstGeom prst="rect">
            <a:avLst/>
          </a:prstGeom>
        </p:spPr>
      </p:pic>
      <p:pic>
        <p:nvPicPr>
          <p:cNvPr id="28" name="Picture 27" descr="jon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0" y="2935224"/>
            <a:ext cx="521207" cy="521207"/>
          </a:xfrm>
          <a:prstGeom prst="rect">
            <a:avLst/>
          </a:prstGeom>
        </p:spPr>
      </p:pic>
      <p:sp>
        <p:nvSpPr>
          <p:cNvPr id="29" name="Freeform 28"/>
          <p:cNvSpPr/>
          <p:nvPr/>
        </p:nvSpPr>
        <p:spPr>
          <a:xfrm>
            <a:off x="685800" y="357530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575304"/>
            <a:ext cx="1097280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B8862F"/>
                </a:solidFill>
                <a:latin typeface="DM Serif Display"/>
              </a:rPr>
              <a:t>4/6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6850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312B"/>
                </a:solidFill>
                <a:latin typeface="Inter"/>
              </a:rPr>
              <a:t>Die Gespräche liefern neue Use Cases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959352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66"/>
                </a:solidFill>
                <a:latin typeface="Inter"/>
              </a:rPr>
              <a:t>Eigennutzung planen, Stammgast-Preise, Smart Pricing einstellen, Kauf-Check.</a:t>
            </a:r>
          </a:p>
        </p:txBody>
      </p:sp>
      <p:pic>
        <p:nvPicPr>
          <p:cNvPr id="33" name="Picture 32" descr="monika_fa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3694176"/>
            <a:ext cx="521207" cy="521207"/>
          </a:xfrm>
          <a:prstGeom prst="rect">
            <a:avLst/>
          </a:prstGeom>
        </p:spPr>
      </p:pic>
      <p:pic>
        <p:nvPicPr>
          <p:cNvPr id="34" name="Picture 33" descr="thomas_fa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6488" y="3694176"/>
            <a:ext cx="521207" cy="521207"/>
          </a:xfrm>
          <a:prstGeom prst="rect">
            <a:avLst/>
          </a:prstGeom>
        </p:spPr>
      </p:pic>
      <p:pic>
        <p:nvPicPr>
          <p:cNvPr id="35" name="Picture 34" descr="a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3694176"/>
            <a:ext cx="521207" cy="521207"/>
          </a:xfrm>
          <a:prstGeom prst="rect">
            <a:avLst/>
          </a:prstGeom>
        </p:spPr>
      </p:pic>
      <p:pic>
        <p:nvPicPr>
          <p:cNvPr id="36" name="Picture 35" descr="pet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3694176"/>
            <a:ext cx="521207" cy="521207"/>
          </a:xfrm>
          <a:prstGeom prst="rect">
            <a:avLst/>
          </a:prstGeom>
        </p:spPr>
      </p:pic>
      <p:pic>
        <p:nvPicPr>
          <p:cNvPr id="37" name="Picture 36" descr="sab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3694176"/>
            <a:ext cx="521207" cy="521207"/>
          </a:xfrm>
          <a:prstGeom prst="rect">
            <a:avLst/>
          </a:prstGeom>
        </p:spPr>
      </p:pic>
      <p:pic>
        <p:nvPicPr>
          <p:cNvPr id="38" name="Picture 37" descr="jon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7080" y="3694176"/>
            <a:ext cx="521207" cy="521207"/>
          </a:xfrm>
          <a:prstGeom prst="rect">
            <a:avLst/>
          </a:prstGeom>
        </p:spPr>
      </p:pic>
      <p:sp>
        <p:nvSpPr>
          <p:cNvPr id="39" name="Freeform 38"/>
          <p:cNvSpPr/>
          <p:nvPr/>
        </p:nvSpPr>
        <p:spPr>
          <a:xfrm>
            <a:off x="685800" y="4334256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334256"/>
            <a:ext cx="1097280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B8862F"/>
                </a:solidFill>
                <a:latin typeface="DM Serif Display"/>
              </a:rPr>
              <a:t>3/6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44398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312B"/>
                </a:solidFill>
                <a:latin typeface="Inter"/>
              </a:rPr>
              <a:t>Das Monatsabo stößt auf Widerstand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718304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66"/>
                </a:solidFill>
                <a:latin typeface="Inter"/>
              </a:rPr>
              <a:t>Einmalpreise werden akzeptiert, ein Abo zu 39 € lehnen drei ab. Nur Jonas sagt klar ja.</a:t>
            </a:r>
          </a:p>
        </p:txBody>
      </p:sp>
      <p:pic>
        <p:nvPicPr>
          <p:cNvPr id="43" name="Picture 42" descr="mon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453128"/>
            <a:ext cx="521207" cy="521207"/>
          </a:xfrm>
          <a:prstGeom prst="rect">
            <a:avLst/>
          </a:prstGeom>
        </p:spPr>
      </p:pic>
      <p:pic>
        <p:nvPicPr>
          <p:cNvPr id="44" name="Picture 43" descr="tho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4453128"/>
            <a:ext cx="521207" cy="521207"/>
          </a:xfrm>
          <a:prstGeom prst="rect">
            <a:avLst/>
          </a:prstGeom>
        </p:spPr>
      </p:pic>
      <p:pic>
        <p:nvPicPr>
          <p:cNvPr id="45" name="Picture 44" descr="anna_fa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89136" y="4453128"/>
            <a:ext cx="521207" cy="521207"/>
          </a:xfrm>
          <a:prstGeom prst="rect">
            <a:avLst/>
          </a:prstGeom>
        </p:spPr>
      </p:pic>
      <p:pic>
        <p:nvPicPr>
          <p:cNvPr id="46" name="Picture 45" descr="petra_fa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01784" y="4453128"/>
            <a:ext cx="521207" cy="521207"/>
          </a:xfrm>
          <a:prstGeom prst="rect">
            <a:avLst/>
          </a:prstGeom>
        </p:spPr>
      </p:pic>
      <p:pic>
        <p:nvPicPr>
          <p:cNvPr id="47" name="Picture 46" descr="sab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453128"/>
            <a:ext cx="521207" cy="521207"/>
          </a:xfrm>
          <a:prstGeom prst="rect">
            <a:avLst/>
          </a:prstGeom>
        </p:spPr>
      </p:pic>
      <p:pic>
        <p:nvPicPr>
          <p:cNvPr id="48" name="Picture 47" descr="jonas_fa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27080" y="4453128"/>
            <a:ext cx="521207" cy="521207"/>
          </a:xfrm>
          <a:prstGeom prst="rect">
            <a:avLst/>
          </a:prstGeom>
        </p:spPr>
      </p:pic>
      <p:sp>
        <p:nvSpPr>
          <p:cNvPr id="49" name="Freeform 48"/>
          <p:cNvSpPr/>
          <p:nvPr/>
        </p:nvSpPr>
        <p:spPr>
          <a:xfrm>
            <a:off x="685800" y="5093208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093208"/>
            <a:ext cx="1097280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0">
                <a:solidFill>
                  <a:srgbClr val="B8862F"/>
                </a:solidFill>
                <a:latin typeface="DM Serif Display"/>
              </a:rPr>
              <a:t>2/6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52029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312B"/>
                </a:solidFill>
                <a:latin typeface="Inter"/>
              </a:rPr>
              <a:t>Meta Ads erreichen nicht alle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40" y="5477256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66"/>
                </a:solidFill>
                <a:latin typeface="Inter"/>
              </a:rPr>
              <a:t>Hof und Selbstnutzerin kommen über Verband, Empfehlung und Google.</a:t>
            </a:r>
          </a:p>
        </p:txBody>
      </p:sp>
      <p:pic>
        <p:nvPicPr>
          <p:cNvPr id="53" name="Picture 52" descr="monika_fa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5212080"/>
            <a:ext cx="521207" cy="521207"/>
          </a:xfrm>
          <a:prstGeom prst="rect">
            <a:avLst/>
          </a:prstGeom>
        </p:spPr>
      </p:pic>
      <p:pic>
        <p:nvPicPr>
          <p:cNvPr id="54" name="Picture 53" descr="thomas_fa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6488" y="5212080"/>
            <a:ext cx="521207" cy="521207"/>
          </a:xfrm>
          <a:prstGeom prst="rect">
            <a:avLst/>
          </a:prstGeom>
        </p:spPr>
      </p:pic>
      <p:pic>
        <p:nvPicPr>
          <p:cNvPr id="55" name="Picture 54" descr="a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36" y="5212080"/>
            <a:ext cx="521207" cy="521207"/>
          </a:xfrm>
          <a:prstGeom prst="rect">
            <a:avLst/>
          </a:prstGeom>
        </p:spPr>
      </p:pic>
      <p:pic>
        <p:nvPicPr>
          <p:cNvPr id="56" name="Picture 55" descr="petra_fa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01784" y="5212080"/>
            <a:ext cx="521207" cy="521207"/>
          </a:xfrm>
          <a:prstGeom prst="rect">
            <a:avLst/>
          </a:prstGeom>
        </p:spPr>
      </p:pic>
      <p:pic>
        <p:nvPicPr>
          <p:cNvPr id="57" name="Picture 56" descr="sab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5212080"/>
            <a:ext cx="521207" cy="521207"/>
          </a:xfrm>
          <a:prstGeom prst="rect">
            <a:avLst/>
          </a:prstGeom>
        </p:spPr>
      </p:pic>
      <p:pic>
        <p:nvPicPr>
          <p:cNvPr id="58" name="Picture 57" descr="jonas_fa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27080" y="5212080"/>
            <a:ext cx="521207" cy="5212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HANDLUNGSABLEITUNG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Was wir als Startup daraus ableiten: vier Hebel</a:t>
            </a:r>
          </a:p>
        </p:txBody>
      </p:sp>
      <p:sp>
        <p:nvSpPr>
          <p:cNvPr id="7" name="Freeform 6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12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2533573" cy="310896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057400"/>
            <a:ext cx="2533573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8862F"/>
                </a:solidFill>
                <a:latin typeface="DM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207637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0312B"/>
                </a:solidFill>
                <a:latin typeface="DM Serif Display"/>
              </a:rPr>
              <a:t>Produkt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21220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050" b="0">
                <a:solidFill>
                  <a:srgbClr val="10312B"/>
                </a:solidFill>
                <a:latin typeface="Inter"/>
              </a:rPr>
              <a:t>Saisonpreis-Tabelle und Marktvergleich auf Seite 1, Score erklärt</a:t>
            </a:r>
          </a:p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050" b="0">
                <a:solidFill>
                  <a:srgbClr val="10312B"/>
                </a:solidFill>
                <a:latin typeface="Inter"/>
              </a:rPr>
              <a:t>Rechenweg und Vergleichsobjekte im Anhang</a:t>
            </a:r>
          </a:p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050" b="0">
                <a:solidFill>
                  <a:srgbClr val="10312B"/>
                </a:solidFill>
                <a:latin typeface="Inter"/>
              </a:rPr>
              <a:t>Hof-Paket bis 5 Einheiten, Stammgast-Preise getrennt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BELEG</a:t>
            </a:r>
          </a:p>
        </p:txBody>
      </p:sp>
      <p:pic>
        <p:nvPicPr>
          <p:cNvPr id="16" name="Picture 15" descr="mon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4681728"/>
            <a:ext cx="365760" cy="365760"/>
          </a:xfrm>
          <a:prstGeom prst="rect">
            <a:avLst/>
          </a:prstGeom>
        </p:spPr>
      </p:pic>
      <p:pic>
        <p:nvPicPr>
          <p:cNvPr id="17" name="Picture 16" descr="tho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664" y="4681728"/>
            <a:ext cx="365760" cy="365760"/>
          </a:xfrm>
          <a:prstGeom prst="rect">
            <a:avLst/>
          </a:prstGeom>
        </p:spPr>
      </p:pic>
      <p:pic>
        <p:nvPicPr>
          <p:cNvPr id="18" name="Picture 17" descr="a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848" y="4681728"/>
            <a:ext cx="365760" cy="365760"/>
          </a:xfrm>
          <a:prstGeom prst="rect">
            <a:avLst/>
          </a:prstGeom>
        </p:spPr>
      </p:pic>
      <p:pic>
        <p:nvPicPr>
          <p:cNvPr id="19" name="Picture 18" descr="jon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032" y="4681728"/>
            <a:ext cx="365760" cy="365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447973" y="2057400"/>
            <a:ext cx="2533573" cy="310896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447973" y="2057400"/>
            <a:ext cx="2533573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76573" y="2240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8862F"/>
                </a:solidFill>
                <a:latin typeface="DM Mono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6573" y="2468880"/>
            <a:ext cx="207637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0312B"/>
                </a:solidFill>
                <a:latin typeface="DM Serif Display"/>
              </a:rPr>
              <a:t>Preis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6573" y="2971800"/>
            <a:ext cx="21220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050" b="0">
                <a:solidFill>
                  <a:srgbClr val="10312B"/>
                </a:solidFill>
                <a:latin typeface="Inter"/>
              </a:rPr>
              <a:t>Quick-Check 29 € und Komplett-Analyse 149 € bleiben</a:t>
            </a:r>
          </a:p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050" b="0">
                <a:solidFill>
                  <a:srgbClr val="10312B"/>
                </a:solidFill>
                <a:latin typeface="Inter"/>
              </a:rPr>
              <a:t>Monitor testen: 39 €/Monat gegen 99 €/Jahr</a:t>
            </a:r>
          </a:p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050" b="0">
                <a:solidFill>
                  <a:srgbClr val="10312B"/>
                </a:solidFill>
                <a:latin typeface="Inter"/>
              </a:rPr>
              <a:t>Hof-Paket als eigener Preispunkt (Annahme: 199 €)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6573" y="47548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BELEG</a:t>
            </a:r>
          </a:p>
        </p:txBody>
      </p:sp>
      <p:pic>
        <p:nvPicPr>
          <p:cNvPr id="26" name="Picture 25" descr="mon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653" y="4681728"/>
            <a:ext cx="365760" cy="365760"/>
          </a:xfrm>
          <a:prstGeom prst="rect">
            <a:avLst/>
          </a:prstGeom>
        </p:spPr>
      </p:pic>
      <p:pic>
        <p:nvPicPr>
          <p:cNvPr id="27" name="Picture 26" descr="tho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837" y="4681728"/>
            <a:ext cx="365760" cy="365760"/>
          </a:xfrm>
          <a:prstGeom prst="rect">
            <a:avLst/>
          </a:prstGeom>
        </p:spPr>
      </p:pic>
      <p:pic>
        <p:nvPicPr>
          <p:cNvPr id="28" name="Picture 27" descr="a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021" y="4681728"/>
            <a:ext cx="365760" cy="365760"/>
          </a:xfrm>
          <a:prstGeom prst="rect">
            <a:avLst/>
          </a:prstGeom>
        </p:spPr>
      </p:pic>
      <p:pic>
        <p:nvPicPr>
          <p:cNvPr id="29" name="Picture 28" descr="sab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4205" y="4681728"/>
            <a:ext cx="365760" cy="36576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10147" y="2057400"/>
            <a:ext cx="2533573" cy="310896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210147" y="2057400"/>
            <a:ext cx="2533573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38747" y="2240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8862F"/>
                </a:solidFill>
                <a:latin typeface="DM Mono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8747" y="2468880"/>
            <a:ext cx="207637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0312B"/>
                </a:solidFill>
                <a:latin typeface="DM Serif Display"/>
              </a:rPr>
              <a:t>Vertrauen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8747" y="2971800"/>
            <a:ext cx="21220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050" b="0">
                <a:solidFill>
                  <a:srgbClr val="10312B"/>
                </a:solidFill>
                <a:latin typeface="Inter"/>
              </a:rPr>
              <a:t>In der Beta sichtbar: „Vom hostwise-Team geprüft“</a:t>
            </a:r>
          </a:p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050" b="0">
                <a:solidFill>
                  <a:srgbClr val="10312B"/>
                </a:solidFill>
                <a:latin typeface="Inter"/>
              </a:rPr>
              <a:t>Rückruf-Option für Rückfragen</a:t>
            </a:r>
          </a:p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050" b="0">
                <a:solidFill>
                  <a:srgbClr val="10312B"/>
                </a:solidFill>
                <a:latin typeface="Inter"/>
              </a:rPr>
              <a:t>Datenquellen offenlegen, kein Kontozugriff nötig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8747" y="47548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BELEG</a:t>
            </a:r>
          </a:p>
        </p:txBody>
      </p:sp>
      <p:pic>
        <p:nvPicPr>
          <p:cNvPr id="36" name="Picture 35" descr="moni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827" y="4681728"/>
            <a:ext cx="365760" cy="365760"/>
          </a:xfrm>
          <a:prstGeom prst="rect">
            <a:avLst/>
          </a:prstGeom>
        </p:spPr>
      </p:pic>
      <p:pic>
        <p:nvPicPr>
          <p:cNvPr id="37" name="Picture 36" descr="a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011" y="4681728"/>
            <a:ext cx="365760" cy="365760"/>
          </a:xfrm>
          <a:prstGeom prst="rect">
            <a:avLst/>
          </a:prstGeom>
        </p:spPr>
      </p:pic>
      <p:pic>
        <p:nvPicPr>
          <p:cNvPr id="38" name="Picture 37" descr="petr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7195" y="4681728"/>
            <a:ext cx="365760" cy="365760"/>
          </a:xfrm>
          <a:prstGeom prst="rect">
            <a:avLst/>
          </a:prstGeom>
        </p:spPr>
      </p:pic>
      <p:pic>
        <p:nvPicPr>
          <p:cNvPr id="39" name="Picture 38" descr="jon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379" y="4681728"/>
            <a:ext cx="365760" cy="36576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8972321" y="2057400"/>
            <a:ext cx="2533573" cy="310896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972321" y="2057400"/>
            <a:ext cx="2533573" cy="64008"/>
          </a:xfrm>
          <a:prstGeom prst="rect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200921" y="2240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8862F"/>
                </a:solidFill>
                <a:latin typeface="DM Mono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00921" y="2468880"/>
            <a:ext cx="2076373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10312B"/>
                </a:solidFill>
                <a:latin typeface="DM Serif Display"/>
              </a:rPr>
              <a:t>Vertrieb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00921" y="2971800"/>
            <a:ext cx="2122093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050" b="0">
                <a:solidFill>
                  <a:srgbClr val="10312B"/>
                </a:solidFill>
                <a:latin typeface="Inter"/>
              </a:rPr>
              <a:t>Ad-Hook: „Zweitmeinung zum Airbnb-Update“</a:t>
            </a:r>
          </a:p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050" b="0">
                <a:solidFill>
                  <a:srgbClr val="10312B"/>
                </a:solidFill>
                <a:latin typeface="Inter"/>
              </a:rPr>
              <a:t>Zweiter Kanal: Verband „Urlaub auf dem Bauernhof“ und Tourist-Infos</a:t>
            </a:r>
          </a:p>
          <a:p>
            <a:pPr algn="l" marL="182880" indent="-182880">
              <a:lnSpc>
                <a:spcPct val="115000"/>
              </a:lnSpc>
              <a:spcAft>
                <a:spcPts val="500"/>
              </a:spcAft>
              <a:buClr>
                <a:srgbClr val="E1A23E"/>
              </a:buClr>
              <a:buSzPct val="80000"/>
              <a:buFont typeface="Arial"/>
              <a:buChar char="■"/>
            </a:pPr>
            <a:r>
              <a:rPr sz="1050" b="0">
                <a:solidFill>
                  <a:srgbClr val="10312B"/>
                </a:solidFill>
                <a:latin typeface="Inter"/>
              </a:rPr>
              <a:t>SEO-Seite „Ferienwohnung Preis berechnen“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0921" y="47548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BELEG</a:t>
            </a:r>
          </a:p>
        </p:txBody>
      </p:sp>
      <p:pic>
        <p:nvPicPr>
          <p:cNvPr id="46" name="Picture 45" descr="petr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1001" y="4681728"/>
            <a:ext cx="365760" cy="365760"/>
          </a:xfrm>
          <a:prstGeom prst="rect">
            <a:avLst/>
          </a:prstGeom>
        </p:spPr>
      </p:pic>
      <p:pic>
        <p:nvPicPr>
          <p:cNvPr id="47" name="Picture 46" descr="a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185" y="4681728"/>
            <a:ext cx="365760" cy="365760"/>
          </a:xfrm>
          <a:prstGeom prst="rect">
            <a:avLst/>
          </a:prstGeom>
        </p:spPr>
      </p:pic>
      <p:pic>
        <p:nvPicPr>
          <p:cNvPr id="48" name="Picture 47" descr="sab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9369" y="4681728"/>
            <a:ext cx="365760" cy="36576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685800" y="5349240"/>
            <a:ext cx="10820095" cy="64008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60120" y="5349240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spc="120">
                <a:solidFill>
                  <a:srgbClr val="E1A23E"/>
                </a:solidFill>
                <a:latin typeface="DM Mono"/>
              </a:rPr>
              <a:t>SPANNUNGSFELD 90 % KI   </a:t>
            </a:r>
            <a:r>
              <a:rPr sz="1200" b="0">
                <a:solidFill>
                  <a:srgbClr val="F6F2EA"/>
                </a:solidFill>
                <a:latin typeface="Inter"/>
              </a:rPr>
              <a:t>Die Automatisierung bleibt. Der Mensch wird aber dort sichtbar, wo Vertrauen entsteht: bei der Freigabe in der Beta und beim Rückruf.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474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0312B"/>
                </a:solidFill>
                <a:latin typeface="DM Serif Display"/>
              </a:rPr>
              <a:t>hostwise</a:t>
            </a:r>
            <a:r>
              <a:rPr sz="1500" b="0">
                <a:solidFill>
                  <a:srgbClr val="E1A23E"/>
                </a:solidFill>
                <a:latin typeface="DM Serif Display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393192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spc="150">
                <a:solidFill>
                  <a:srgbClr val="5C6B66"/>
                </a:solidFill>
                <a:latin typeface="DM Mono"/>
              </a:rPr>
              <a:t>HANDLUNGSABLEITUNG · ROADMAP</a:t>
            </a:r>
          </a:p>
        </p:txBody>
      </p:sp>
      <p:sp>
        <p:nvSpPr>
          <p:cNvPr id="4" name="Freeform 3"/>
          <p:cNvSpPr/>
          <p:nvPr/>
        </p:nvSpPr>
        <p:spPr>
          <a:xfrm>
            <a:off x="685800" y="786384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28575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A23E"/>
                </a:solidFill>
                <a:latin typeface="DM Mon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3171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>
                <a:solidFill>
                  <a:srgbClr val="10312B"/>
                </a:solidFill>
                <a:latin typeface="DM Serif Display"/>
              </a:rPr>
              <a:t>Die nächsten Schritte bis zum Demonstrator – und danach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C6B66"/>
                </a:solidFill>
                <a:latin typeface="Inter"/>
              </a:rPr>
              <a:t>Termine laut Kursplan: Abnahme Pflichtenheft 10.11.2026, Demonstrator und Elevator Pitch 08.12.2026.</a:t>
            </a:r>
          </a:p>
        </p:txBody>
      </p:sp>
      <p:sp>
        <p:nvSpPr>
          <p:cNvPr id="8" name="Freeform 7"/>
          <p:cNvSpPr/>
          <p:nvPr/>
        </p:nvSpPr>
        <p:spPr>
          <a:xfrm>
            <a:off x="685800" y="6382512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9525">
            <a:solidFill>
              <a:srgbClr val="D9D4C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HOSTWISE · ENTREPRENEURSHIP &amp; SERVICEENTWICKLUNG · HM WS 2026/27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095" y="64739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 spc="80">
                <a:solidFill>
                  <a:srgbClr val="5C6B66"/>
                </a:solidFill>
                <a:latin typeface="DM Mono"/>
              </a:rPr>
              <a:t>SEITE 13 / 13</a:t>
            </a:r>
          </a:p>
        </p:txBody>
      </p:sp>
      <p:sp>
        <p:nvSpPr>
          <p:cNvPr id="11" name="Freeform 10"/>
          <p:cNvSpPr/>
          <p:nvPr/>
        </p:nvSpPr>
        <p:spPr>
          <a:xfrm>
            <a:off x="685800" y="2212848"/>
            <a:ext cx="10820095" cy="0"/>
          </a:xfrm>
          <a:custGeom>
            <a:avLst/>
            <a:gdLst/>
            <a:ahLst/>
            <a:cxnLst/>
            <a:rect l="l" t="t" r="r" b="b"/>
            <a:pathLst>
              <a:path w="10820095" h="0">
                <a:moveTo>
                  <a:pt x="0" y="0"/>
                </a:moveTo>
                <a:lnTo>
                  <a:pt x="10820095" y="0"/>
                </a:lnTo>
              </a:path>
            </a:pathLst>
          </a:custGeom>
          <a:noFill/>
          <a:ln w="19050">
            <a:solidFill>
              <a:srgbClr val="1031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112264"/>
            <a:ext cx="201168" cy="201168"/>
          </a:xfrm>
          <a:prstGeom prst="ellipse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1874519"/>
            <a:ext cx="30580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10312B"/>
                </a:solidFill>
                <a:latin typeface="DM Mono"/>
              </a:rPr>
              <a:t>BIS 10.11. · PFLICHTENHEFT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560320"/>
            <a:ext cx="3423818" cy="73152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86968" y="2843784"/>
            <a:ext cx="164592" cy="164592"/>
          </a:xfrm>
          <a:prstGeom prst="rect">
            <a:avLst/>
          </a:prstGeom>
          <a:noFill/>
          <a:ln w="19050">
            <a:solidFill>
              <a:srgbClr val="E1A23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" y="2560320"/>
            <a:ext cx="273801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F6F2EA"/>
                </a:solidFill>
                <a:latin typeface="Inter"/>
              </a:rPr>
              <a:t>Report-Aufbau ändern: Tabelle und Marktvergleich nach vorn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401568"/>
            <a:ext cx="3423818" cy="73152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86968" y="3685031"/>
            <a:ext cx="164592" cy="164592"/>
          </a:xfrm>
          <a:prstGeom prst="rect">
            <a:avLst/>
          </a:prstGeom>
          <a:noFill/>
          <a:ln w="19050">
            <a:solidFill>
              <a:srgbClr val="E1A23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" y="3401568"/>
            <a:ext cx="273801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F6F2EA"/>
                </a:solidFill>
                <a:latin typeface="Inter"/>
              </a:rPr>
              <a:t>Rechenweg und Datenquellen als MUST-Anforderung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242816"/>
            <a:ext cx="3423818" cy="73152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86968" y="4526279"/>
            <a:ext cx="164592" cy="164592"/>
          </a:xfrm>
          <a:prstGeom prst="rect">
            <a:avLst/>
          </a:prstGeom>
          <a:noFill/>
          <a:ln w="19050">
            <a:solidFill>
              <a:srgbClr val="E1A23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88720" y="4242816"/>
            <a:ext cx="273801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F6F2EA"/>
                </a:solidFill>
                <a:latin typeface="Inter"/>
              </a:rPr>
              <a:t>Hof-Paket als Anforderung aufnehmen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084064"/>
            <a:ext cx="3423818" cy="731520"/>
          </a:xfrm>
          <a:prstGeom prst="rect">
            <a:avLst/>
          </a:prstGeom>
          <a:solidFill>
            <a:srgbClr val="1031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86968" y="5367528"/>
            <a:ext cx="164592" cy="164592"/>
          </a:xfrm>
          <a:prstGeom prst="rect">
            <a:avLst/>
          </a:prstGeom>
          <a:noFill/>
          <a:ln w="19050">
            <a:solidFill>
              <a:srgbClr val="E1A23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88720" y="5084064"/>
            <a:ext cx="273801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F6F2EA"/>
                </a:solidFill>
                <a:latin typeface="Inter"/>
              </a:rPr>
              <a:t>Monitor-Preis als offene Hypothese festhalten</a:t>
            </a:r>
          </a:p>
        </p:txBody>
      </p:sp>
      <p:sp>
        <p:nvSpPr>
          <p:cNvPr id="26" name="Oval 25"/>
          <p:cNvSpPr/>
          <p:nvPr/>
        </p:nvSpPr>
        <p:spPr>
          <a:xfrm>
            <a:off x="4383938" y="2112264"/>
            <a:ext cx="201168" cy="201168"/>
          </a:xfrm>
          <a:prstGeom prst="ellipse">
            <a:avLst/>
          </a:prstGeom>
          <a:solidFill>
            <a:srgbClr val="E1A23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703978" y="1874519"/>
            <a:ext cx="30580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10312B"/>
                </a:solidFill>
                <a:latin typeface="DM Mono"/>
              </a:rPr>
              <a:t>BIS 08.12. · DEMONSTRATOR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3938" y="2560320"/>
            <a:ext cx="3423818" cy="73152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585106" y="2843784"/>
            <a:ext cx="164592" cy="164592"/>
          </a:xfrm>
          <a:prstGeom prst="rect">
            <a:avLst/>
          </a:prstGeom>
          <a:noFill/>
          <a:ln w="19050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886858" y="2560320"/>
            <a:ext cx="273801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Beispiel-Report mit Prüf-Hinweis und Rückruf-Button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3938" y="3401568"/>
            <a:ext cx="3423818" cy="73152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585106" y="3685031"/>
            <a:ext cx="164592" cy="164592"/>
          </a:xfrm>
          <a:prstGeom prst="rect">
            <a:avLst/>
          </a:prstGeom>
          <a:noFill/>
          <a:ln w="19050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86858" y="3401568"/>
            <a:ext cx="273801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Landingpage-Test: 39 €/Monat gegen 99 €/Jahr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3938" y="4242816"/>
            <a:ext cx="3423818" cy="73152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85106" y="4526279"/>
            <a:ext cx="164592" cy="164592"/>
          </a:xfrm>
          <a:prstGeom prst="rect">
            <a:avLst/>
          </a:prstGeom>
          <a:noFill/>
          <a:ln w="19050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886858" y="4242816"/>
            <a:ext cx="273801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Ad-Hook „Zweitmeinung zum Airbnb-Update“ testen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3938" y="5084064"/>
            <a:ext cx="3423818" cy="731520"/>
          </a:xfrm>
          <a:prstGeom prst="rect">
            <a:avLst/>
          </a:prstGeom>
          <a:solidFill>
            <a:srgbClr val="FFFDF8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585106" y="5367528"/>
            <a:ext cx="164592" cy="164592"/>
          </a:xfrm>
          <a:prstGeom prst="rect">
            <a:avLst/>
          </a:prstGeom>
          <a:noFill/>
          <a:ln w="19050">
            <a:solidFill>
              <a:srgbClr val="2E8B6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886858" y="5084064"/>
            <a:ext cx="273801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10312B"/>
                </a:solidFill>
                <a:latin typeface="Inter"/>
              </a:rPr>
              <a:t>Erstgespräch mit Verband und einer Tourist-Info</a:t>
            </a:r>
          </a:p>
        </p:txBody>
      </p:sp>
      <p:sp>
        <p:nvSpPr>
          <p:cNvPr id="40" name="Oval 39"/>
          <p:cNvSpPr/>
          <p:nvPr/>
        </p:nvSpPr>
        <p:spPr>
          <a:xfrm>
            <a:off x="8082076" y="2112264"/>
            <a:ext cx="201168" cy="201168"/>
          </a:xfrm>
          <a:prstGeom prst="ellipse">
            <a:avLst/>
          </a:prstGeom>
          <a:solidFill>
            <a:srgbClr val="F6F2EA"/>
          </a:solidFill>
          <a:ln w="19050">
            <a:solidFill>
              <a:srgbClr val="B8862F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402116" y="1874519"/>
            <a:ext cx="30580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spc="150">
                <a:solidFill>
                  <a:srgbClr val="10312B"/>
                </a:solidFill>
                <a:latin typeface="DM Mono"/>
              </a:rPr>
              <a:t>NACH DEM LAUNCH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82076" y="2560320"/>
            <a:ext cx="3423818" cy="731520"/>
          </a:xfrm>
          <a:prstGeom prst="rect">
            <a:avLst/>
          </a:prstGeom>
          <a:solidFill>
            <a:srgbClr val="F6F2EA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283244" y="2843784"/>
            <a:ext cx="164592" cy="164592"/>
          </a:xfrm>
          <a:prstGeom prst="rect">
            <a:avLst/>
          </a:prstGeom>
          <a:noFill/>
          <a:ln w="19050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584996" y="2560320"/>
            <a:ext cx="273801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Eigennutzungs-Planer für Selbstnutzer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82076" y="3401568"/>
            <a:ext cx="3423818" cy="731520"/>
          </a:xfrm>
          <a:prstGeom prst="rect">
            <a:avLst/>
          </a:prstGeom>
          <a:solidFill>
            <a:srgbClr val="F6F2EA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283244" y="3685031"/>
            <a:ext cx="164592" cy="164592"/>
          </a:xfrm>
          <a:prstGeom prst="rect">
            <a:avLst/>
          </a:prstGeom>
          <a:noFill/>
          <a:ln w="19050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584996" y="3401568"/>
            <a:ext cx="273801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Smart-Pricing-Check für Airbnb-Hosts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82076" y="4242816"/>
            <a:ext cx="3423818" cy="731520"/>
          </a:xfrm>
          <a:prstGeom prst="rect">
            <a:avLst/>
          </a:prstGeom>
          <a:solidFill>
            <a:srgbClr val="F6F2EA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283244" y="4526279"/>
            <a:ext cx="164592" cy="164592"/>
          </a:xfrm>
          <a:prstGeom prst="rect">
            <a:avLst/>
          </a:prstGeom>
          <a:noFill/>
          <a:ln w="19050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8584996" y="4242816"/>
            <a:ext cx="273801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Kauf-Check für Investoren (bis 300 €)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2076" y="5084064"/>
            <a:ext cx="3423818" cy="731520"/>
          </a:xfrm>
          <a:prstGeom prst="rect">
            <a:avLst/>
          </a:prstGeom>
          <a:solidFill>
            <a:srgbClr val="F6F2EA"/>
          </a:solidFill>
          <a:ln w="9525">
            <a:solidFill>
              <a:srgbClr val="E3DCC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283244" y="5367528"/>
            <a:ext cx="164592" cy="164592"/>
          </a:xfrm>
          <a:prstGeom prst="rect">
            <a:avLst/>
          </a:prstGeom>
          <a:noFill/>
          <a:ln w="19050">
            <a:solidFill>
              <a:srgbClr val="D9D4C7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584996" y="5084064"/>
            <a:ext cx="273801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C6B66"/>
                </a:solidFill>
                <a:latin typeface="Inter"/>
              </a:rPr>
              <a:t>SEO-Seite „Ferienwohnung Preis berechnen“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