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76198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523961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285942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04792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09904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457188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5333866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6095847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857828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7619809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38179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143771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905752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066773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1429714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0" y="761980"/>
            <a:ext cx="12191695" cy="0"/>
          </a:xfrm>
          <a:custGeom>
            <a:avLst/>
            <a:gdLst/>
            <a:ahLst/>
            <a:cxnLst/>
            <a:rect l="l" t="t" r="r" b="b"/>
            <a:pathLst>
              <a:path w="12191695" h="0">
                <a:moveTo>
                  <a:pt x="0" y="0"/>
                </a:moveTo>
                <a:lnTo>
                  <a:pt x="12191695" y="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0" y="1523961"/>
            <a:ext cx="12191695" cy="0"/>
          </a:xfrm>
          <a:custGeom>
            <a:avLst/>
            <a:gdLst/>
            <a:ahLst/>
            <a:cxnLst/>
            <a:rect l="l" t="t" r="r" b="b"/>
            <a:pathLst>
              <a:path w="12191695" h="0">
                <a:moveTo>
                  <a:pt x="0" y="0"/>
                </a:moveTo>
                <a:lnTo>
                  <a:pt x="12191695" y="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0" y="2285942"/>
            <a:ext cx="12191695" cy="0"/>
          </a:xfrm>
          <a:custGeom>
            <a:avLst/>
            <a:gdLst/>
            <a:ahLst/>
            <a:cxnLst/>
            <a:rect l="l" t="t" r="r" b="b"/>
            <a:pathLst>
              <a:path w="12191695" h="0">
                <a:moveTo>
                  <a:pt x="0" y="0"/>
                </a:moveTo>
                <a:lnTo>
                  <a:pt x="12191695" y="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0" y="3047923"/>
            <a:ext cx="12191695" cy="0"/>
          </a:xfrm>
          <a:custGeom>
            <a:avLst/>
            <a:gdLst/>
            <a:ahLst/>
            <a:cxnLst/>
            <a:rect l="l" t="t" r="r" b="b"/>
            <a:pathLst>
              <a:path w="12191695" h="0">
                <a:moveTo>
                  <a:pt x="0" y="0"/>
                </a:moveTo>
                <a:lnTo>
                  <a:pt x="12191695" y="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0" y="3809904"/>
            <a:ext cx="12191695" cy="0"/>
          </a:xfrm>
          <a:custGeom>
            <a:avLst/>
            <a:gdLst/>
            <a:ahLst/>
            <a:cxnLst/>
            <a:rect l="l" t="t" r="r" b="b"/>
            <a:pathLst>
              <a:path w="12191695" h="0">
                <a:moveTo>
                  <a:pt x="0" y="0"/>
                </a:moveTo>
                <a:lnTo>
                  <a:pt x="12191695" y="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0" y="4571885"/>
            <a:ext cx="12191695" cy="0"/>
          </a:xfrm>
          <a:custGeom>
            <a:avLst/>
            <a:gdLst/>
            <a:ahLst/>
            <a:cxnLst/>
            <a:rect l="l" t="t" r="r" b="b"/>
            <a:pathLst>
              <a:path w="12191695" h="0">
                <a:moveTo>
                  <a:pt x="0" y="0"/>
                </a:moveTo>
                <a:lnTo>
                  <a:pt x="12191695" y="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0" y="5333866"/>
            <a:ext cx="12191695" cy="0"/>
          </a:xfrm>
          <a:custGeom>
            <a:avLst/>
            <a:gdLst/>
            <a:ahLst/>
            <a:cxnLst/>
            <a:rect l="l" t="t" r="r" b="b"/>
            <a:pathLst>
              <a:path w="12191695" h="0">
                <a:moveTo>
                  <a:pt x="0" y="0"/>
                </a:moveTo>
                <a:lnTo>
                  <a:pt x="12191695" y="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0" y="6095847"/>
            <a:ext cx="12191695" cy="0"/>
          </a:xfrm>
          <a:custGeom>
            <a:avLst/>
            <a:gdLst/>
            <a:ahLst/>
            <a:cxnLst/>
            <a:rect l="l" t="t" r="r" b="b"/>
            <a:pathLst>
              <a:path w="12191695" h="0">
                <a:moveTo>
                  <a:pt x="0" y="0"/>
                </a:moveTo>
                <a:lnTo>
                  <a:pt x="12191695" y="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hw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6928"/>
            <a:ext cx="475488" cy="47548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07592" y="548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F6F2EA"/>
                </a:solidFill>
                <a:latin typeface="DM Serif Display"/>
              </a:rPr>
              <a:t>hostwise</a:t>
            </a:r>
            <a:r>
              <a:rPr sz="2400" b="0">
                <a:solidFill>
                  <a:srgbClr val="E1A23E"/>
                </a:solidFill>
                <a:latin typeface="DM Serif Display"/>
              </a:rPr>
              <a:t>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20" y="640080"/>
            <a:ext cx="1856231" cy="347472"/>
          </a:xfrm>
          <a:prstGeom prst="rect">
            <a:avLst/>
          </a:prstGeom>
          <a:noFill/>
          <a:ln w="12700">
            <a:solidFill>
              <a:srgbClr val="E1A23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646920" y="640080"/>
            <a:ext cx="185623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spc="150">
                <a:solidFill>
                  <a:srgbClr val="E1A23E"/>
                </a:solidFill>
                <a:latin typeface="DM Mono"/>
              </a:rPr>
              <a:t>KONZEPTION V2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874519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spc="250">
                <a:solidFill>
                  <a:srgbClr val="E1A23E"/>
                </a:solidFill>
                <a:latin typeface="DM Mono"/>
              </a:rPr>
              <a:t>ENTREPRENEURSHIP &amp; SERVICEENTWICKLUNG · HOCHSCHULE MÜNCHEN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2240280"/>
            <a:ext cx="105156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5000" b="0">
                <a:solidFill>
                  <a:srgbClr val="F6F2EA"/>
                </a:solidFill>
                <a:latin typeface="DM Serif Display"/>
              </a:rPr>
              <a:t>Die Ertrags-Analyse für private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5000" b="0">
                <a:solidFill>
                  <a:srgbClr val="F6F2EA"/>
                </a:solidFill>
                <a:latin typeface="DM Serif Display"/>
              </a:rPr>
              <a:t>Ferienwohnungs-Vermieter.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023360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C6CFC7"/>
                </a:solidFill>
                <a:latin typeface="Inter"/>
              </a:rPr>
              <a:t>Wie viel Geld lasse ich mit meiner Ferienwohnung liegen – und was muss ich konkret ändern? Ein Service, den zu rund 90 % KI-Agenten erbringen.</a:t>
            </a:r>
          </a:p>
        </p:txBody>
      </p:sp>
      <p:sp>
        <p:nvSpPr>
          <p:cNvPr id="32" name="Freeform 31"/>
          <p:cNvSpPr/>
          <p:nvPr/>
        </p:nvSpPr>
        <p:spPr>
          <a:xfrm>
            <a:off x="-91440" y="3246120"/>
            <a:ext cx="12435840" cy="3584448"/>
          </a:xfrm>
          <a:custGeom>
            <a:avLst/>
            <a:gdLst/>
            <a:ahLst/>
            <a:cxnLst/>
            <a:rect l="l" t="t" r="r" b="b"/>
            <a:pathLst>
              <a:path w="12435840" h="3584448">
                <a:moveTo>
                  <a:pt x="0" y="3584448"/>
                </a:moveTo>
                <a:lnTo>
                  <a:pt x="2468880" y="3429000"/>
                </a:lnTo>
                <a:lnTo>
                  <a:pt x="4937760" y="3584448"/>
                </a:lnTo>
                <a:lnTo>
                  <a:pt x="8366760" y="1435608"/>
                </a:lnTo>
                <a:lnTo>
                  <a:pt x="12435840" y="0"/>
                </a:lnTo>
              </a:path>
            </a:pathLst>
          </a:custGeom>
          <a:noFill/>
          <a:ln w="44450">
            <a:solidFill>
              <a:srgbClr val="B886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174736" y="4581144"/>
            <a:ext cx="201168" cy="201168"/>
          </a:xfrm>
          <a:prstGeom prst="ellipse">
            <a:avLst/>
          </a:prstGeom>
          <a:solidFill>
            <a:srgbClr val="E1A23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685800" y="5029200"/>
            <a:ext cx="2395728" cy="987552"/>
          </a:xfrm>
          <a:prstGeom prst="roundRect">
            <a:avLst>
              <a:gd name="adj" fmla="val 9000"/>
            </a:avLst>
          </a:prstGeom>
          <a:solidFill>
            <a:srgbClr val="16382F"/>
          </a:solidFill>
          <a:ln w="9525">
            <a:solidFill>
              <a:srgbClr val="2A524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14400" y="5175504"/>
            <a:ext cx="2029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spc="150">
                <a:solidFill>
                  <a:srgbClr val="C6CFC7"/>
                </a:solidFill>
                <a:latin typeface="DM Mono"/>
              </a:rPr>
              <a:t>EINSTIEG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394960"/>
            <a:ext cx="20299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E1A23E"/>
                </a:solidFill>
                <a:latin typeface="DM Mono"/>
              </a:rPr>
              <a:t>0 €</a:t>
            </a:r>
            <a:r>
              <a:rPr sz="950" b="0">
                <a:solidFill>
                  <a:srgbClr val="C6CFC7"/>
                </a:solidFill>
                <a:latin typeface="DM Mono"/>
              </a:rPr>
              <a:t>  Kurz-Check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10128" y="5029200"/>
            <a:ext cx="2395728" cy="987552"/>
          </a:xfrm>
          <a:prstGeom prst="roundRect">
            <a:avLst>
              <a:gd name="adj" fmla="val 9000"/>
            </a:avLst>
          </a:prstGeom>
          <a:solidFill>
            <a:srgbClr val="16382F"/>
          </a:solidFill>
          <a:ln w="9525">
            <a:solidFill>
              <a:srgbClr val="2A524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538728" y="5175504"/>
            <a:ext cx="2029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spc="150">
                <a:solidFill>
                  <a:srgbClr val="C6CFC7"/>
                </a:solidFill>
                <a:latin typeface="DM Mono"/>
              </a:rPr>
              <a:t>ANALYSE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38728" y="5394960"/>
            <a:ext cx="20299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F6F2EA"/>
                </a:solidFill>
                <a:latin typeface="DM Mono"/>
              </a:rPr>
              <a:t>29 / 149 €</a:t>
            </a:r>
            <a:r>
              <a:rPr sz="950" b="0">
                <a:solidFill>
                  <a:srgbClr val="C6CFC7"/>
                </a:solidFill>
                <a:latin typeface="DM Mono"/>
              </a:rPr>
              <a:t>  einmalig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34456" y="5029200"/>
            <a:ext cx="2395728" cy="987552"/>
          </a:xfrm>
          <a:prstGeom prst="roundRect">
            <a:avLst>
              <a:gd name="adj" fmla="val 9000"/>
            </a:avLst>
          </a:prstGeom>
          <a:solidFill>
            <a:srgbClr val="16382F"/>
          </a:solidFill>
          <a:ln w="9525">
            <a:solidFill>
              <a:srgbClr val="2A524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163056" y="5175504"/>
            <a:ext cx="2029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spc="150">
                <a:solidFill>
                  <a:srgbClr val="C6CFC7"/>
                </a:solidFill>
                <a:latin typeface="DM Mono"/>
              </a:rPr>
              <a:t>MONITOR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63056" y="5394960"/>
            <a:ext cx="20299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F6F2EA"/>
                </a:solidFill>
                <a:latin typeface="DM Mono"/>
              </a:rPr>
              <a:t>39 €</a:t>
            </a:r>
            <a:r>
              <a:rPr sz="950" b="0">
                <a:solidFill>
                  <a:srgbClr val="C6CFC7"/>
                </a:solidFill>
                <a:latin typeface="DM Mono"/>
              </a:rPr>
              <a:t>  pro Monat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58784" y="5029200"/>
            <a:ext cx="2395728" cy="987552"/>
          </a:xfrm>
          <a:prstGeom prst="roundRect">
            <a:avLst>
              <a:gd name="adj" fmla="val 9000"/>
            </a:avLst>
          </a:prstGeom>
          <a:solidFill>
            <a:srgbClr val="16382F"/>
          </a:solidFill>
          <a:ln w="9525">
            <a:solidFill>
              <a:srgbClr val="2A524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787384" y="5175504"/>
            <a:ext cx="2029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spc="150">
                <a:solidFill>
                  <a:srgbClr val="C6CFC7"/>
                </a:solidFill>
                <a:latin typeface="DM Mono"/>
              </a:rPr>
              <a:t>AUTOMATISIERT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87384" y="5394960"/>
            <a:ext cx="20299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5FBF93"/>
                </a:solidFill>
                <a:latin typeface="DM Mono"/>
              </a:rPr>
              <a:t>~90 %</a:t>
            </a:r>
            <a:r>
              <a:rPr sz="950" b="0">
                <a:solidFill>
                  <a:srgbClr val="C6CFC7"/>
                </a:solidFill>
                <a:latin typeface="DM Mono"/>
              </a:rPr>
              <a:t>  KI-Agenten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632764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spc="100">
                <a:solidFill>
                  <a:srgbClr val="C6CFC7"/>
                </a:solidFill>
                <a:latin typeface="DM Mono"/>
              </a:rPr>
              <a:t>WS 2026/27 · ARBEITSTITEL, MARKENPRÜFUNG LÄUFT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48295" y="63276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spc="100">
                <a:solidFill>
                  <a:srgbClr val="C6CFC7"/>
                </a:solidFill>
                <a:latin typeface="DM Mono"/>
              </a:rPr>
              <a:t>HOSTWISE — EIN PRODUKT VON VELOIT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0312B"/>
                </a:solidFill>
                <a:latin typeface="DM Serif Display"/>
              </a:rPr>
              <a:t>hostwise</a:t>
            </a:r>
            <a:r>
              <a:rPr sz="1500" b="0">
                <a:solidFill>
                  <a:srgbClr val="E1A23E"/>
                </a:solidFill>
                <a:latin typeface="DM Serif Display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9319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EXECUTIVE SUMMARY</a:t>
            </a:r>
          </a:p>
        </p:txBody>
      </p:sp>
      <p:sp>
        <p:nvSpPr>
          <p:cNvPr id="4" name="Freeform 3"/>
          <p:cNvSpPr/>
          <p:nvPr/>
        </p:nvSpPr>
        <p:spPr>
          <a:xfrm>
            <a:off x="685800" y="786384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1A23E"/>
                </a:solidFill>
                <a:latin typeface="DM Mon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3171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10312B"/>
                </a:solidFill>
                <a:latin typeface="DM Serif Display"/>
              </a:rPr>
              <a:t>Privatvermieter lassen Ertrag liegen, weil sie Preise und Inserat von Hand und ohne Marktvergleich pflegen</a:t>
            </a:r>
          </a:p>
        </p:txBody>
      </p:sp>
      <p:sp>
        <p:nvSpPr>
          <p:cNvPr id="7" name="Freeform 6"/>
          <p:cNvSpPr/>
          <p:nvPr/>
        </p:nvSpPr>
        <p:spPr>
          <a:xfrm>
            <a:off x="685800" y="6382512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HOSTWISE · ENTREPRENEURSHIP &amp; SERVICEENTWICKLUNG · HM WS 2026/27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77095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SEITE 2 / 14</a:t>
            </a:r>
          </a:p>
        </p:txBody>
      </p:sp>
      <p:sp>
        <p:nvSpPr>
          <p:cNvPr id="10" name="Freeform 9"/>
          <p:cNvSpPr/>
          <p:nvPr/>
        </p:nvSpPr>
        <p:spPr>
          <a:xfrm>
            <a:off x="685800" y="2103120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12700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860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0312B"/>
                </a:solidFill>
                <a:latin typeface="Inter"/>
              </a:rPr>
              <a:t>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286000"/>
            <a:ext cx="844265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0312B"/>
                </a:solidFill>
                <a:latin typeface="Inter"/>
              </a:rPr>
              <a:t>Rund 455.000 privat vermietete Ferienunterkünfte in Deutschland, meist ohne Werkzeug: Preise nach Gefühl, Inserate veraltet.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85800" y="2734056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91693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0312B"/>
                </a:solidFill>
                <a:latin typeface="Inter"/>
              </a:rPr>
              <a:t>Lösung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916936"/>
            <a:ext cx="844265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0312B"/>
                </a:solidFill>
                <a:latin typeface="Inter"/>
              </a:rPr>
              <a:t>Online-Analyse mit PDF-Report: Ertragslücke in Euro, priorisierter Maßnahmenplan, Saisonpreise und neuer Inseratstext.</a:t>
            </a:r>
          </a:p>
        </p:txBody>
      </p:sp>
      <p:sp>
        <p:nvSpPr>
          <p:cNvPr id="16" name="Freeform 15"/>
          <p:cNvSpPr/>
          <p:nvPr/>
        </p:nvSpPr>
        <p:spPr>
          <a:xfrm>
            <a:off x="685800" y="3364991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478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0312B"/>
                </a:solidFill>
                <a:latin typeface="Inter"/>
              </a:rPr>
              <a:t>Abgrenzung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547872"/>
            <a:ext cx="844265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0312B"/>
                </a:solidFill>
                <a:latin typeface="Inter"/>
              </a:rPr>
              <a:t>Unabhängige Zweitmeinung zum Airbnb-Algorithmus: auf Deutsch, ohne Einrichtung, ohne Abo-Zwang.</a:t>
            </a:r>
          </a:p>
        </p:txBody>
      </p:sp>
      <p:sp>
        <p:nvSpPr>
          <p:cNvPr id="19" name="Freeform 18"/>
          <p:cNvSpPr/>
          <p:nvPr/>
        </p:nvSpPr>
        <p:spPr>
          <a:xfrm>
            <a:off x="685800" y="3995927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78807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0312B"/>
                </a:solidFill>
                <a:latin typeface="Inter"/>
              </a:rPr>
              <a:t>Betrieb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4178807"/>
            <a:ext cx="844265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0312B"/>
                </a:solidFill>
                <a:latin typeface="Inter"/>
              </a:rPr>
              <a:t>Zu rund 90 % von KI-Agenten erbracht, von der Meta-Ad bis zum Monitoring. Das Team steuert, prüft Stichproben und klärt Sonderfälle.</a:t>
            </a:r>
          </a:p>
        </p:txBody>
      </p:sp>
      <p:sp>
        <p:nvSpPr>
          <p:cNvPr id="22" name="Freeform 21"/>
          <p:cNvSpPr/>
          <p:nvPr/>
        </p:nvSpPr>
        <p:spPr>
          <a:xfrm>
            <a:off x="685800" y="4626863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8097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0312B"/>
                </a:solidFill>
                <a:latin typeface="Inter"/>
              </a:rPr>
              <a:t>Erlöse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4809744"/>
            <a:ext cx="844265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0312B"/>
                </a:solidFill>
                <a:latin typeface="Inter"/>
              </a:rPr>
              <a:t>Kostenloser Kurz-Check  →  Quick-Check 29 €  →  Komplett-Analyse 149 €  →  hostwise Monitor 39 €/Monat</a:t>
            </a:r>
          </a:p>
        </p:txBody>
      </p:sp>
      <p:sp>
        <p:nvSpPr>
          <p:cNvPr id="25" name="Freeform 24"/>
          <p:cNvSpPr/>
          <p:nvPr/>
        </p:nvSpPr>
        <p:spPr>
          <a:xfrm>
            <a:off x="685800" y="5257800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4406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0312B"/>
                </a:solidFill>
                <a:latin typeface="Inter"/>
              </a:rPr>
              <a:t>Nächster Schritt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5440680"/>
            <a:ext cx="844265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0312B"/>
                </a:solidFill>
                <a:latin typeface="Inter"/>
              </a:rPr>
              <a:t>Gespräche mit Vermietern und Beta mit 3–5 echten Objekten, legale Marktdatenquelle klären, Markenprüfung bei DPMA und EUIPO.</a:t>
            </a:r>
          </a:p>
        </p:txBody>
      </p:sp>
      <p:sp>
        <p:nvSpPr>
          <p:cNvPr id="28" name="Freeform 27"/>
          <p:cNvSpPr/>
          <p:nvPr/>
        </p:nvSpPr>
        <p:spPr>
          <a:xfrm>
            <a:off x="685800" y="5888736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0312B"/>
                </a:solidFill>
                <a:latin typeface="DM Serif Display"/>
              </a:rPr>
              <a:t>hostwise</a:t>
            </a:r>
            <a:r>
              <a:rPr sz="1500" b="0">
                <a:solidFill>
                  <a:srgbClr val="E1A23E"/>
                </a:solidFill>
                <a:latin typeface="DM Serif Display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9319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PROBLEM &amp; ZIELGRUPPE</a:t>
            </a:r>
          </a:p>
        </p:txBody>
      </p:sp>
      <p:sp>
        <p:nvSpPr>
          <p:cNvPr id="4" name="Freeform 3"/>
          <p:cNvSpPr/>
          <p:nvPr/>
        </p:nvSpPr>
        <p:spPr>
          <a:xfrm>
            <a:off x="685800" y="786384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1A23E"/>
                </a:solidFill>
                <a:latin typeface="DM Mono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3171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10312B"/>
                </a:solidFill>
                <a:latin typeface="DM Serif Display"/>
              </a:rPr>
              <a:t>Hunderttausende Privatvermieter verwalten ihre Wohnung selbst – und wissen nicht, was sie liegen lassen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B66"/>
                </a:solidFill>
                <a:latin typeface="Inter"/>
              </a:rPr>
              <a:t>Quelle: Studie „Der Ferienhausmarkt in Deutschland 2024“, Daten 2022. Ertragslücke = eigene Annahme, in der Beta zu prüfen.</a:t>
            </a:r>
          </a:p>
        </p:txBody>
      </p:sp>
      <p:sp>
        <p:nvSpPr>
          <p:cNvPr id="8" name="Freeform 7"/>
          <p:cNvSpPr/>
          <p:nvPr/>
        </p:nvSpPr>
        <p:spPr>
          <a:xfrm>
            <a:off x="685800" y="6382512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HOSTWISE · ENTREPRENEURSHIP &amp; SERVICEENTWICKLUNG · HM WS 2026/27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7095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SEITE 3 / 14</a:t>
            </a:r>
          </a:p>
        </p:txBody>
      </p:sp>
      <p:sp>
        <p:nvSpPr>
          <p:cNvPr id="11" name="Freeform 10"/>
          <p:cNvSpPr/>
          <p:nvPr/>
        </p:nvSpPr>
        <p:spPr>
          <a:xfrm>
            <a:off x="685800" y="2148840"/>
            <a:ext cx="3332378" cy="0"/>
          </a:xfrm>
          <a:custGeom>
            <a:avLst/>
            <a:gdLst/>
            <a:ahLst/>
            <a:cxnLst/>
            <a:rect l="l" t="t" r="r" b="b"/>
            <a:pathLst>
              <a:path w="3332378" h="0">
                <a:moveTo>
                  <a:pt x="0" y="0"/>
                </a:moveTo>
                <a:lnTo>
                  <a:pt x="3332378" y="0"/>
                </a:lnTo>
              </a:path>
            </a:pathLst>
          </a:custGeom>
          <a:noFill/>
          <a:ln w="12700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31720"/>
            <a:ext cx="333237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FERIENUNTERKÜNFTE IN DEUTSCHLAND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06040"/>
            <a:ext cx="333237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0">
                <a:solidFill>
                  <a:srgbClr val="10312B"/>
                </a:solidFill>
                <a:latin typeface="DM Serif Display"/>
              </a:rPr>
              <a:t>555.111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11880"/>
            <a:ext cx="31494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C6B66"/>
                </a:solidFill>
                <a:latin typeface="Inter"/>
              </a:rPr>
              <a:t>Davon rund 455.000 privat, also mit weniger als 10 Betten</a:t>
            </a:r>
          </a:p>
        </p:txBody>
      </p:sp>
      <p:sp>
        <p:nvSpPr>
          <p:cNvPr id="15" name="Freeform 14"/>
          <p:cNvSpPr/>
          <p:nvPr/>
        </p:nvSpPr>
        <p:spPr>
          <a:xfrm>
            <a:off x="4429658" y="2148840"/>
            <a:ext cx="3332378" cy="0"/>
          </a:xfrm>
          <a:custGeom>
            <a:avLst/>
            <a:gdLst/>
            <a:ahLst/>
            <a:cxnLst/>
            <a:rect l="l" t="t" r="r" b="b"/>
            <a:pathLst>
              <a:path w="3332378" h="0">
                <a:moveTo>
                  <a:pt x="0" y="0"/>
                </a:moveTo>
                <a:lnTo>
                  <a:pt x="3332378" y="0"/>
                </a:lnTo>
              </a:path>
            </a:pathLst>
          </a:custGeom>
          <a:noFill/>
          <a:ln w="12700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9658" y="2331720"/>
            <a:ext cx="333237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Ø JAHRESUMSATZ, SELBST VERWALTET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9658" y="2606040"/>
            <a:ext cx="333237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0">
                <a:solidFill>
                  <a:srgbClr val="10312B"/>
                </a:solidFill>
                <a:latin typeface="DM Serif Display"/>
              </a:rPr>
              <a:t>12.265 €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9658" y="3611880"/>
            <a:ext cx="31494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C6B66"/>
                </a:solidFill>
                <a:latin typeface="Inter"/>
              </a:rPr>
              <a:t>Fremdverwaltete Privatobjekte erzielen 14.921 €, also rund 2.650 € mehr</a:t>
            </a:r>
          </a:p>
        </p:txBody>
      </p:sp>
      <p:sp>
        <p:nvSpPr>
          <p:cNvPr id="19" name="Freeform 18"/>
          <p:cNvSpPr/>
          <p:nvPr/>
        </p:nvSpPr>
        <p:spPr>
          <a:xfrm>
            <a:off x="8173516" y="2148840"/>
            <a:ext cx="3332379" cy="0"/>
          </a:xfrm>
          <a:custGeom>
            <a:avLst/>
            <a:gdLst/>
            <a:ahLst/>
            <a:cxnLst/>
            <a:rect l="l" t="t" r="r" b="b"/>
            <a:pathLst>
              <a:path w="3332379" h="0">
                <a:moveTo>
                  <a:pt x="0" y="0"/>
                </a:moveTo>
                <a:lnTo>
                  <a:pt x="3332379" y="0"/>
                </a:lnTo>
              </a:path>
            </a:pathLst>
          </a:custGeom>
          <a:noFill/>
          <a:ln w="12700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3516" y="2331720"/>
            <a:ext cx="333237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REALISTISCHE ERTRAGSLÜCKE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3516" y="2606040"/>
            <a:ext cx="333237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0">
                <a:solidFill>
                  <a:srgbClr val="10312B"/>
                </a:solidFill>
                <a:latin typeface="DM Serif Display"/>
              </a:rPr>
              <a:t>5–15 %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3516" y="3611880"/>
            <a:ext cx="31494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C6B66"/>
                </a:solidFill>
                <a:latin typeface="Inter"/>
              </a:rPr>
              <a:t>Unsere Annahme: rund 600–1.800 € pro Objekt und Jahr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572000"/>
            <a:ext cx="10820095" cy="114300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85800" y="4572000"/>
            <a:ext cx="64008" cy="1143000"/>
          </a:xfrm>
          <a:prstGeom prst="rect">
            <a:avLst/>
          </a:prstGeom>
          <a:solidFill>
            <a:srgbClr val="E1A23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05840" y="47548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ZIELGRUPPE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29200"/>
            <a:ext cx="101800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0312B"/>
                </a:solidFill>
                <a:latin typeface="Inter"/>
              </a:rPr>
              <a:t>Privatvermieter mit 1–2 Objekten, 40–65 Jahre, vermieten über Airbnb oder Booking.com und pflegen Preise manuell. Nicht KI-affin, aber zahlenaffin und kaufkräftig: 29–149 € sind gegen eine Ertragslücke von mehreren tausend Euro trivial.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0312B"/>
                </a:solidFill>
                <a:latin typeface="DM Serif Display"/>
              </a:rPr>
              <a:t>hostwise</a:t>
            </a:r>
            <a:r>
              <a:rPr sz="1500" b="0">
                <a:solidFill>
                  <a:srgbClr val="E1A23E"/>
                </a:solidFill>
                <a:latin typeface="DM Serif Display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9319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LÖSUNG &amp; LEISTUNGSUMFANG</a:t>
            </a:r>
          </a:p>
        </p:txBody>
      </p:sp>
      <p:sp>
        <p:nvSpPr>
          <p:cNvPr id="4" name="Freeform 3"/>
          <p:cNvSpPr/>
          <p:nvPr/>
        </p:nvSpPr>
        <p:spPr>
          <a:xfrm>
            <a:off x="685800" y="786384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1A23E"/>
                </a:solidFill>
                <a:latin typeface="DM Mono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3171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10312B"/>
                </a:solidFill>
                <a:latin typeface="DM Serif Display"/>
              </a:rPr>
              <a:t>Vier Stufen führen vom kostenlosen Check zum laufenden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B66"/>
                </a:solidFill>
                <a:latin typeface="Inter"/>
              </a:rPr>
              <a:t>Später: Multi-Objekt- und Agentur-Lizenz ab 3 Objekten, 99–249 € pro Monat. Jeder Report endet mit dem nächsten Angebot (eingebauter Upsell).</a:t>
            </a:r>
          </a:p>
        </p:txBody>
      </p:sp>
      <p:sp>
        <p:nvSpPr>
          <p:cNvPr id="8" name="Freeform 7"/>
          <p:cNvSpPr/>
          <p:nvPr/>
        </p:nvSpPr>
        <p:spPr>
          <a:xfrm>
            <a:off x="685800" y="6382512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HOSTWISE · ENTREPRENEURSHIP &amp; SERVICEENTWICKLUNG · HM WS 2026/27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7095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SEITE 4 / 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103120"/>
            <a:ext cx="2533573" cy="3749039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331720"/>
            <a:ext cx="198493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LEAD-MAGNET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606040"/>
            <a:ext cx="20763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10312B"/>
                </a:solidFill>
                <a:latin typeface="DM Serif Display"/>
              </a:rPr>
              <a:t>Kurz-Check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108960"/>
            <a:ext cx="198493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10312B"/>
                </a:solidFill>
                <a:latin typeface="DM Mono"/>
              </a:rPr>
              <a:t>0 €</a:t>
            </a:r>
            <a:r>
              <a:rPr sz="1000" b="0">
                <a:solidFill>
                  <a:srgbClr val="5C6B66"/>
                </a:solidFill>
                <a:latin typeface="DM Mono"/>
              </a:rPr>
              <a:t>  </a:t>
            </a:r>
          </a:p>
        </p:txBody>
      </p:sp>
      <p:sp>
        <p:nvSpPr>
          <p:cNvPr id="15" name="Freeform 14"/>
          <p:cNvSpPr/>
          <p:nvPr/>
        </p:nvSpPr>
        <p:spPr>
          <a:xfrm>
            <a:off x="960120" y="3749039"/>
            <a:ext cx="1984933" cy="0"/>
          </a:xfrm>
          <a:custGeom>
            <a:avLst/>
            <a:gdLst/>
            <a:ahLst/>
            <a:cxnLst/>
            <a:rect l="l" t="t" r="r" b="b"/>
            <a:pathLst>
              <a:path w="1984933" h="0">
                <a:moveTo>
                  <a:pt x="0" y="0"/>
                </a:moveTo>
                <a:lnTo>
                  <a:pt x="1984933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" y="3986784"/>
            <a:ext cx="64008" cy="64008"/>
          </a:xfrm>
          <a:prstGeom prst="rect">
            <a:avLst/>
          </a:prstGeom>
          <a:solidFill>
            <a:srgbClr val="E1A23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43000" y="3913632"/>
            <a:ext cx="18020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0312B"/>
                </a:solidFill>
                <a:latin typeface="Inter"/>
              </a:rPr>
              <a:t>Score und grobe Ertragslücke sofort im Browser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4736592"/>
            <a:ext cx="64008" cy="64008"/>
          </a:xfrm>
          <a:prstGeom prst="rect">
            <a:avLst/>
          </a:prstGeom>
          <a:solidFill>
            <a:srgbClr val="E1A23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43000" y="4663440"/>
            <a:ext cx="18020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0312B"/>
                </a:solidFill>
                <a:latin typeface="Inter"/>
              </a:rPr>
              <a:t>Baut Vertrauen auf und liefert Daten für den Pixel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47973" y="2103120"/>
            <a:ext cx="2533573" cy="3749039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722293" y="2331720"/>
            <a:ext cx="198493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LOW TICKET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2293" y="2606040"/>
            <a:ext cx="20763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10312B"/>
                </a:solidFill>
                <a:latin typeface="DM Serif Display"/>
              </a:rPr>
              <a:t>Quick-Check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22293" y="3108960"/>
            <a:ext cx="198493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10312B"/>
                </a:solidFill>
                <a:latin typeface="DM Mono"/>
              </a:rPr>
              <a:t>29 €</a:t>
            </a:r>
            <a:r>
              <a:rPr sz="1000" b="0">
                <a:solidFill>
                  <a:srgbClr val="5C6B66"/>
                </a:solidFill>
                <a:latin typeface="DM Mono"/>
              </a:rPr>
              <a:t>  einmalig</a:t>
            </a:r>
          </a:p>
        </p:txBody>
      </p:sp>
      <p:sp>
        <p:nvSpPr>
          <p:cNvPr id="24" name="Freeform 23"/>
          <p:cNvSpPr/>
          <p:nvPr/>
        </p:nvSpPr>
        <p:spPr>
          <a:xfrm>
            <a:off x="3722293" y="3749039"/>
            <a:ext cx="1984934" cy="0"/>
          </a:xfrm>
          <a:custGeom>
            <a:avLst/>
            <a:gdLst/>
            <a:ahLst/>
            <a:cxnLst/>
            <a:rect l="l" t="t" r="r" b="b"/>
            <a:pathLst>
              <a:path w="1984934" h="0">
                <a:moveTo>
                  <a:pt x="0" y="0"/>
                </a:moveTo>
                <a:lnTo>
                  <a:pt x="1984934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22293" y="3986784"/>
            <a:ext cx="64008" cy="64008"/>
          </a:xfrm>
          <a:prstGeom prst="rect">
            <a:avLst/>
          </a:prstGeom>
          <a:solidFill>
            <a:srgbClr val="E1A23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905173" y="3913632"/>
            <a:ext cx="18020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0312B"/>
                </a:solidFill>
                <a:latin typeface="Inter"/>
              </a:rPr>
              <a:t>Score und Schätzung der Ertragslücke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22293" y="4535424"/>
            <a:ext cx="64008" cy="64008"/>
          </a:xfrm>
          <a:prstGeom prst="rect">
            <a:avLst/>
          </a:prstGeom>
          <a:solidFill>
            <a:srgbClr val="E1A23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905173" y="4462272"/>
            <a:ext cx="18020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0312B"/>
                </a:solidFill>
                <a:latin typeface="Inter"/>
              </a:rPr>
              <a:t>Top-5-Maßnahmen als PDF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0147" y="2103120"/>
            <a:ext cx="2533573" cy="3749039"/>
          </a:xfrm>
          <a:prstGeom prst="rect">
            <a:avLst/>
          </a:prstGeom>
          <a:solidFill>
            <a:srgbClr val="1031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84467" y="2331720"/>
            <a:ext cx="198493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E1A23E"/>
                </a:solidFill>
                <a:latin typeface="DM Mono"/>
              </a:rPr>
              <a:t>KERNANGEBOT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4467" y="2606040"/>
            <a:ext cx="20763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F6F2EA"/>
                </a:solidFill>
                <a:latin typeface="DM Serif Display"/>
              </a:rPr>
              <a:t>Komplett-Analyse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4467" y="3108960"/>
            <a:ext cx="198493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E1A23E"/>
                </a:solidFill>
                <a:latin typeface="DM Mono"/>
              </a:rPr>
              <a:t>149 €</a:t>
            </a:r>
            <a:r>
              <a:rPr sz="1000" b="0">
                <a:solidFill>
                  <a:srgbClr val="C6CFC7"/>
                </a:solidFill>
                <a:latin typeface="DM Mono"/>
              </a:rPr>
              <a:t>  einmalig</a:t>
            </a:r>
          </a:p>
        </p:txBody>
      </p:sp>
      <p:sp>
        <p:nvSpPr>
          <p:cNvPr id="33" name="Freeform 32"/>
          <p:cNvSpPr/>
          <p:nvPr/>
        </p:nvSpPr>
        <p:spPr>
          <a:xfrm>
            <a:off x="6484467" y="3749039"/>
            <a:ext cx="1984934" cy="0"/>
          </a:xfrm>
          <a:custGeom>
            <a:avLst/>
            <a:gdLst/>
            <a:ahLst/>
            <a:cxnLst/>
            <a:rect l="l" t="t" r="r" b="b"/>
            <a:pathLst>
              <a:path w="1984934" h="0">
                <a:moveTo>
                  <a:pt x="0" y="0"/>
                </a:moveTo>
                <a:lnTo>
                  <a:pt x="1984934" y="0"/>
                </a:lnTo>
              </a:path>
            </a:pathLst>
          </a:custGeom>
          <a:noFill/>
          <a:ln w="9525">
            <a:solidFill>
              <a:srgbClr val="2A524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84467" y="3986784"/>
            <a:ext cx="64008" cy="64008"/>
          </a:xfrm>
          <a:prstGeom prst="rect">
            <a:avLst/>
          </a:prstGeom>
          <a:solidFill>
            <a:srgbClr val="E1A23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667347" y="3913632"/>
            <a:ext cx="18020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F6F2EA"/>
                </a:solidFill>
                <a:latin typeface="Inter"/>
              </a:rPr>
              <a:t>6-Seiten-Report zu Preis, Inserat und Auslastung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84467" y="4535424"/>
            <a:ext cx="64008" cy="64008"/>
          </a:xfrm>
          <a:prstGeom prst="rect">
            <a:avLst/>
          </a:prstGeom>
          <a:solidFill>
            <a:srgbClr val="E1A23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667347" y="4462272"/>
            <a:ext cx="18020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F6F2EA"/>
                </a:solidFill>
                <a:latin typeface="Inter"/>
              </a:rPr>
              <a:t>Saisonpreis-Tabelle und neuer Listing-Text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84467" y="5084064"/>
            <a:ext cx="64008" cy="64008"/>
          </a:xfrm>
          <a:prstGeom prst="rect">
            <a:avLst/>
          </a:prstGeom>
          <a:solidFill>
            <a:srgbClr val="E1A23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667347" y="5010912"/>
            <a:ext cx="18020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F6F2EA"/>
                </a:solidFill>
                <a:latin typeface="Inter"/>
              </a:rPr>
              <a:t>30-Tage-Checkliste zur Umsetzung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72321" y="2103120"/>
            <a:ext cx="2533573" cy="3749039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246641" y="2331720"/>
            <a:ext cx="198493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WIEDERKEHREND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46641" y="2606040"/>
            <a:ext cx="20763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10312B"/>
                </a:solidFill>
                <a:latin typeface="DM Serif Display"/>
              </a:rPr>
              <a:t>hostwise Monitor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46641" y="3108960"/>
            <a:ext cx="198493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10312B"/>
                </a:solidFill>
                <a:latin typeface="DM Mono"/>
              </a:rPr>
              <a:t>39 €</a:t>
            </a:r>
            <a:r>
              <a:rPr sz="1000" b="0">
                <a:solidFill>
                  <a:srgbClr val="5C6B66"/>
                </a:solidFill>
                <a:latin typeface="DM Mono"/>
              </a:rPr>
              <a:t>  pro Monat</a:t>
            </a:r>
          </a:p>
        </p:txBody>
      </p:sp>
      <p:sp>
        <p:nvSpPr>
          <p:cNvPr id="44" name="Freeform 43"/>
          <p:cNvSpPr/>
          <p:nvPr/>
        </p:nvSpPr>
        <p:spPr>
          <a:xfrm>
            <a:off x="9246641" y="3749039"/>
            <a:ext cx="1984934" cy="0"/>
          </a:xfrm>
          <a:custGeom>
            <a:avLst/>
            <a:gdLst/>
            <a:ahLst/>
            <a:cxnLst/>
            <a:rect l="l" t="t" r="r" b="b"/>
            <a:pathLst>
              <a:path w="1984934" h="0">
                <a:moveTo>
                  <a:pt x="0" y="0"/>
                </a:moveTo>
                <a:lnTo>
                  <a:pt x="1984934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246641" y="3986784"/>
            <a:ext cx="64008" cy="64008"/>
          </a:xfrm>
          <a:prstGeom prst="rect">
            <a:avLst/>
          </a:prstGeom>
          <a:solidFill>
            <a:srgbClr val="E1A23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429521" y="3913632"/>
            <a:ext cx="18020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0312B"/>
                </a:solidFill>
                <a:latin typeface="Inter"/>
              </a:rPr>
              <a:t>Monatlicher Re-Check mit Delta-Report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46641" y="4535424"/>
            <a:ext cx="64008" cy="64008"/>
          </a:xfrm>
          <a:prstGeom prst="rect">
            <a:avLst/>
          </a:prstGeom>
          <a:solidFill>
            <a:srgbClr val="E1A23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429521" y="4462272"/>
            <a:ext cx="18020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0312B"/>
                </a:solidFill>
                <a:latin typeface="Inter"/>
              </a:rPr>
              <a:t>Saison-Preisempfehlungen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46641" y="5084064"/>
            <a:ext cx="64008" cy="64008"/>
          </a:xfrm>
          <a:prstGeom prst="rect">
            <a:avLst/>
          </a:prstGeom>
          <a:solidFill>
            <a:srgbClr val="E1A23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429521" y="5010912"/>
            <a:ext cx="18020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0312B"/>
                </a:solidFill>
                <a:latin typeface="Inter"/>
              </a:rPr>
              <a:t>Auslastungs-Alerts im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0312B"/>
                </a:solidFill>
                <a:latin typeface="DM Serif Display"/>
              </a:rPr>
              <a:t>hostwise</a:t>
            </a:r>
            <a:r>
              <a:rPr sz="1500" b="0">
                <a:solidFill>
                  <a:srgbClr val="E1A23E"/>
                </a:solidFill>
                <a:latin typeface="DM Serif Display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9319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WETTBEWERB &amp; POSITIONIERUNG</a:t>
            </a:r>
          </a:p>
        </p:txBody>
      </p:sp>
      <p:sp>
        <p:nvSpPr>
          <p:cNvPr id="4" name="Freeform 3"/>
          <p:cNvSpPr/>
          <p:nvPr/>
        </p:nvSpPr>
        <p:spPr>
          <a:xfrm>
            <a:off x="685800" y="786384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1A23E"/>
                </a:solidFill>
                <a:latin typeface="DM Mono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3171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10312B"/>
                </a:solidFill>
                <a:latin typeface="DM Serif Display"/>
              </a:rPr>
              <a:t>Airbnb analysiert jetzt selbst – hostwise wird zur unabhängigen Zweitmeinung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B66"/>
                </a:solidFill>
                <a:latin typeface="Inter"/>
              </a:rPr>
              <a:t>Quellen: tageskarte.io (Airbnb-Update 30.09.2026), Hostfully (Preisstrategie), Smoobu (Preisliste), KI-Syndikat (Hosts vs. Plattform-KI), Businessplan hostwise v1.0 (Berater).</a:t>
            </a:r>
          </a:p>
        </p:txBody>
      </p:sp>
      <p:sp>
        <p:nvSpPr>
          <p:cNvPr id="8" name="Freeform 7"/>
          <p:cNvSpPr/>
          <p:nvPr/>
        </p:nvSpPr>
        <p:spPr>
          <a:xfrm>
            <a:off x="685800" y="6382512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HOSTWISE · ENTREPRENEURSHIP &amp; SERVICEENTWICKLUNG · HM WS 2026/27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7095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SEITE 5 /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39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ANBIETER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39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ANSATZ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148839"/>
            <a:ext cx="3962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GRENZE FÜR PRIVATVERMIETER</a:t>
            </a:r>
          </a:p>
        </p:txBody>
      </p:sp>
      <p:sp>
        <p:nvSpPr>
          <p:cNvPr id="14" name="Freeform 13"/>
          <p:cNvSpPr/>
          <p:nvPr/>
        </p:nvSpPr>
        <p:spPr>
          <a:xfrm>
            <a:off x="685800" y="2450591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12700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450591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312B"/>
                </a:solidFill>
                <a:latin typeface="Inter"/>
              </a:rPr>
              <a:t>Airbnb (Update 30.09.2026)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450591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0312B"/>
                </a:solidFill>
                <a:latin typeface="Inter"/>
              </a:rPr>
              <a:t>Dynamische Preise mit Spanne, KI-Zusammenfassungen – kostenlos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450591"/>
            <a:ext cx="368777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0312B"/>
                </a:solidFill>
                <a:latin typeface="Inter"/>
              </a:rPr>
              <a:t>Optimiert auf Buchungen, nicht auf Ertrag</a:t>
            </a:r>
          </a:p>
        </p:txBody>
      </p:sp>
      <p:sp>
        <p:nvSpPr>
          <p:cNvPr id="18" name="Freeform 17"/>
          <p:cNvSpPr/>
          <p:nvPr/>
        </p:nvSpPr>
        <p:spPr>
          <a:xfrm>
            <a:off x="685800" y="2999232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999232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312B"/>
                </a:solidFill>
                <a:latin typeface="Inter"/>
              </a:rPr>
              <a:t>PriceLabs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999232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0312B"/>
                </a:solidFill>
                <a:latin typeface="Inter"/>
              </a:rPr>
              <a:t>Dynamic Pricing plus Listing Optimizer seit Februar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999232"/>
            <a:ext cx="368777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0312B"/>
                </a:solidFill>
                <a:latin typeface="Inter"/>
              </a:rPr>
              <a:t>Englisch, Abo, eher für Profis</a:t>
            </a:r>
          </a:p>
        </p:txBody>
      </p:sp>
      <p:sp>
        <p:nvSpPr>
          <p:cNvPr id="22" name="Freeform 21"/>
          <p:cNvSpPr/>
          <p:nvPr/>
        </p:nvSpPr>
        <p:spPr>
          <a:xfrm>
            <a:off x="685800" y="3547872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547872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312B"/>
                </a:solidFill>
                <a:latin typeface="Inter"/>
              </a:rPr>
              <a:t>Smoobu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547872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0312B"/>
                </a:solidFill>
                <a:latin typeface="Inter"/>
              </a:rPr>
              <a:t>Dynamic Pricing für 12,99 € pro Objekt und Monat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547872"/>
            <a:ext cx="368777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0312B"/>
                </a:solidFill>
                <a:latin typeface="Inter"/>
              </a:rPr>
              <a:t>Setzt einen Channel-Manager voraus</a:t>
            </a:r>
          </a:p>
        </p:txBody>
      </p:sp>
      <p:sp>
        <p:nvSpPr>
          <p:cNvPr id="26" name="Freeform 25"/>
          <p:cNvSpPr/>
          <p:nvPr/>
        </p:nvSpPr>
        <p:spPr>
          <a:xfrm>
            <a:off x="685800" y="4096511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096511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312B"/>
                </a:solidFill>
                <a:latin typeface="Inter"/>
              </a:rPr>
              <a:t>Berater, Agenturen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096511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0312B"/>
                </a:solidFill>
                <a:latin typeface="Inter"/>
              </a:rPr>
              <a:t>Persönliche Optimierung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4096511"/>
            <a:ext cx="368777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0312B"/>
                </a:solidFill>
                <a:latin typeface="Inter"/>
              </a:rPr>
              <a:t>Ab rund 500 €, mit Termin und Vorlauf</a:t>
            </a:r>
          </a:p>
        </p:txBody>
      </p:sp>
      <p:sp>
        <p:nvSpPr>
          <p:cNvPr id="30" name="Freeform 29"/>
          <p:cNvSpPr/>
          <p:nvPr/>
        </p:nvSpPr>
        <p:spPr>
          <a:xfrm>
            <a:off x="685800" y="4645151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4645152"/>
            <a:ext cx="10820095" cy="548640"/>
          </a:xfrm>
          <a:prstGeom prst="rect">
            <a:avLst/>
          </a:prstGeom>
          <a:solidFill>
            <a:srgbClr val="F5E6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60" y="4645152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312B"/>
                </a:solidFill>
                <a:latin typeface="Inter"/>
              </a:rPr>
              <a:t>hostwise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4645152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0312B"/>
                </a:solidFill>
                <a:latin typeface="Inter"/>
              </a:rPr>
              <a:t>Zweitmeinung zu Preis, Inserat und Auslastung, mit Ertragslücke in Euro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4645152"/>
            <a:ext cx="368777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0312B"/>
                </a:solidFill>
                <a:latin typeface="Inter"/>
              </a:rPr>
              <a:t>Ab 29 € einmalig, deutsch, keine Einrichtung</a:t>
            </a:r>
          </a:p>
        </p:txBody>
      </p:sp>
      <p:sp>
        <p:nvSpPr>
          <p:cNvPr id="35" name="Freeform 34"/>
          <p:cNvSpPr/>
          <p:nvPr/>
        </p:nvSpPr>
        <p:spPr>
          <a:xfrm>
            <a:off x="685800" y="5193792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12700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" y="5257800"/>
            <a:ext cx="64008" cy="548640"/>
          </a:xfrm>
          <a:prstGeom prst="rect">
            <a:avLst/>
          </a:prstGeom>
          <a:solidFill>
            <a:srgbClr val="E1A23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60120" y="525780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0312B"/>
                </a:solidFill>
                <a:latin typeface="Inter"/>
              </a:rPr>
              <a:t>Die Plattform-KI arbeitet für die Plattform: </a:t>
            </a:r>
            <a:r>
              <a:rPr sz="1200" b="0">
                <a:solidFill>
                  <a:srgbClr val="10312B"/>
                </a:solidFill>
                <a:latin typeface="Inter"/>
              </a:rPr>
              <a:t>Smart Pricing parkt Preise meist nahe der Untergrenze. Genau hier setzt die Zweitmeinung an. Wer danach ein Preis-Tool braucht, bekommt eine Empfehlung.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0312B"/>
                </a:solidFill>
                <a:latin typeface="DM Serif Display"/>
              </a:rPr>
              <a:t>hostwise</a:t>
            </a:r>
            <a:r>
              <a:rPr sz="1500" b="0">
                <a:solidFill>
                  <a:srgbClr val="E1A23E"/>
                </a:solidFill>
                <a:latin typeface="DM Serif Display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9319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PROZESS VORHER / NACHHER · KUNDENSICHT</a:t>
            </a:r>
          </a:p>
        </p:txBody>
      </p:sp>
      <p:sp>
        <p:nvSpPr>
          <p:cNvPr id="4" name="Freeform 3"/>
          <p:cNvSpPr/>
          <p:nvPr/>
        </p:nvSpPr>
        <p:spPr>
          <a:xfrm>
            <a:off x="685800" y="786384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1A23E"/>
                </a:solidFill>
                <a:latin typeface="DM Mono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3171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10312B"/>
                </a:solidFill>
                <a:latin typeface="DM Serif Display"/>
              </a:rPr>
              <a:t>Vorher Stunden an Recherche oder 500 € für den Berater – nachher ein Report ohne Termin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B66"/>
                </a:solidFill>
                <a:latin typeface="Inter"/>
              </a:rPr>
              <a:t>Zeitangaben für hostwise sind Zielwerte für den Betrieb nach der Beta; in der Beta prüft das Team jeden Report vor dem Versand.</a:t>
            </a:r>
          </a:p>
        </p:txBody>
      </p:sp>
      <p:sp>
        <p:nvSpPr>
          <p:cNvPr id="8" name="Freeform 7"/>
          <p:cNvSpPr/>
          <p:nvPr/>
        </p:nvSpPr>
        <p:spPr>
          <a:xfrm>
            <a:off x="685800" y="6382512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HOSTWISE · ENTREPRENEURSHIP &amp; SERVICEENTWICKLUNG · HM WS 2026/27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7095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SEITE 6 / 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2103120"/>
            <a:ext cx="4206240" cy="411480"/>
          </a:xfrm>
          <a:prstGeom prst="rect">
            <a:avLst/>
          </a:prstGeom>
          <a:solidFill>
            <a:srgbClr val="ECE5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788920" y="210312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spc="120">
                <a:solidFill>
                  <a:srgbClr val="5C6B66"/>
                </a:solidFill>
                <a:latin typeface="DM Mono"/>
              </a:rPr>
              <a:t>VORHER · VERMIETER ALLEIN ODER MIT BERATER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9479" y="2103120"/>
            <a:ext cx="4236415" cy="411480"/>
          </a:xfrm>
          <a:prstGeom prst="rect">
            <a:avLst/>
          </a:prstGeom>
          <a:solidFill>
            <a:srgbClr val="1031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79" y="2103120"/>
            <a:ext cx="42364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spc="120">
                <a:solidFill>
                  <a:srgbClr val="E1A23E"/>
                </a:solidFill>
                <a:latin typeface="DM Mono"/>
              </a:rPr>
              <a:t>NACHHER · MIT HOSTWISE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0604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00">
                <a:solidFill>
                  <a:srgbClr val="B8862F"/>
                </a:solidFill>
                <a:latin typeface="DM Mono"/>
              </a:rPr>
              <a:t>MARKTVERGLEICH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606040"/>
            <a:ext cx="3886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C6B66"/>
                </a:solidFill>
                <a:latin typeface="Inter"/>
              </a:rPr>
              <a:t>Vergleichsobjekte auf Airbnb und Booking von Hand durchklicken – oder gar nicht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79" y="260604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E1A23E"/>
                </a:solidFill>
                <a:latin typeface="Inter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606040"/>
            <a:ext cx="39163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0312B"/>
                </a:solidFill>
                <a:latin typeface="Inter"/>
              </a:rPr>
              <a:t>Scraping-Agent vergleicht automatisch mit Objekten der Region</a:t>
            </a:r>
          </a:p>
        </p:txBody>
      </p:sp>
      <p:sp>
        <p:nvSpPr>
          <p:cNvPr id="19" name="Freeform 18"/>
          <p:cNvSpPr/>
          <p:nvPr/>
        </p:nvSpPr>
        <p:spPr>
          <a:xfrm>
            <a:off x="685800" y="3063240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06324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00">
                <a:solidFill>
                  <a:srgbClr val="B8862F"/>
                </a:solidFill>
                <a:latin typeface="DM Mono"/>
              </a:rPr>
              <a:t>PREISE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063240"/>
            <a:ext cx="3886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C6B66"/>
                </a:solidFill>
                <a:latin typeface="Inter"/>
              </a:rPr>
              <a:t>Nach Gefühl oder nach dem Airbnb-Vorschlag, selten angepasst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79" y="306324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E1A23E"/>
                </a:solidFill>
                <a:latin typeface="Inter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063240"/>
            <a:ext cx="39163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0312B"/>
                </a:solidFill>
                <a:latin typeface="Inter"/>
              </a:rPr>
              <a:t>Saisonpreis-Tabelle mit Begründung, Ertragslücke in Euro beziffert</a:t>
            </a:r>
          </a:p>
        </p:txBody>
      </p:sp>
      <p:sp>
        <p:nvSpPr>
          <p:cNvPr id="24" name="Freeform 23"/>
          <p:cNvSpPr/>
          <p:nvPr/>
        </p:nvSpPr>
        <p:spPr>
          <a:xfrm>
            <a:off x="685800" y="3520440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52044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00">
                <a:solidFill>
                  <a:srgbClr val="B8862F"/>
                </a:solidFill>
                <a:latin typeface="DM Mono"/>
              </a:rPr>
              <a:t>INSERAT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3520440"/>
            <a:ext cx="3886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C6B66"/>
                </a:solidFill>
                <a:latin typeface="Inter"/>
              </a:rPr>
              <a:t>Einmal geschrieben, seitdem unverändert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79" y="352044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E1A23E"/>
                </a:solidFill>
                <a:latin typeface="Inter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520440"/>
            <a:ext cx="39163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0312B"/>
                </a:solidFill>
                <a:latin typeface="Inter"/>
              </a:rPr>
              <a:t>Neuer Listing-Text und 30-Tage-Checkliste, sofort einsetzbar</a:t>
            </a:r>
          </a:p>
        </p:txBody>
      </p:sp>
      <p:sp>
        <p:nvSpPr>
          <p:cNvPr id="29" name="Freeform 28"/>
          <p:cNvSpPr/>
          <p:nvPr/>
        </p:nvSpPr>
        <p:spPr>
          <a:xfrm>
            <a:off x="685800" y="3977639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977639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00">
                <a:solidFill>
                  <a:srgbClr val="B8862F"/>
                </a:solidFill>
                <a:latin typeface="DM Mono"/>
              </a:rPr>
              <a:t>HILFE HOLEN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3977639"/>
            <a:ext cx="3886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C6B66"/>
                </a:solidFill>
                <a:latin typeface="Inter"/>
              </a:rPr>
              <a:t>Berater ab rund 500 €, Termin, Wochen Vorlauf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79" y="3977639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E1A23E"/>
                </a:solidFill>
                <a:latin typeface="Inter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3977639"/>
            <a:ext cx="39163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0312B"/>
                </a:solidFill>
                <a:latin typeface="Inter"/>
              </a:rPr>
              <a:t>Kaufen, Daten eingeben, Report erhalten – kein Termin, kein Call</a:t>
            </a:r>
          </a:p>
        </p:txBody>
      </p:sp>
      <p:sp>
        <p:nvSpPr>
          <p:cNvPr id="34" name="Freeform 33"/>
          <p:cNvSpPr/>
          <p:nvPr/>
        </p:nvSpPr>
        <p:spPr>
          <a:xfrm>
            <a:off x="685800" y="4434840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43484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00">
                <a:solidFill>
                  <a:srgbClr val="B8862F"/>
                </a:solidFill>
                <a:latin typeface="DM Mono"/>
              </a:rPr>
              <a:t>DANACH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88920" y="4434840"/>
            <a:ext cx="3886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C6B66"/>
                </a:solidFill>
                <a:latin typeface="Inter"/>
              </a:rPr>
              <a:t>Kein Nachfassen: Der Markt ändert sich, die Preise nicht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79" y="443484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E1A23E"/>
                </a:solidFill>
                <a:latin typeface="Inter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434840"/>
            <a:ext cx="39163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0312B"/>
                </a:solidFill>
                <a:latin typeface="Inter"/>
              </a:rPr>
              <a:t>Monitor prüft monatlich und meldet sich vor jeder Saison</a:t>
            </a:r>
          </a:p>
        </p:txBody>
      </p:sp>
      <p:sp>
        <p:nvSpPr>
          <p:cNvPr id="39" name="Freeform 38"/>
          <p:cNvSpPr/>
          <p:nvPr/>
        </p:nvSpPr>
        <p:spPr>
          <a:xfrm>
            <a:off x="685800" y="4892040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800" y="5010912"/>
            <a:ext cx="3454298" cy="86868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14400" y="5120640"/>
            <a:ext cx="29970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ZEIT BIS ZUM ERGEBNIS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376672"/>
            <a:ext cx="308853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B66"/>
                </a:solidFill>
                <a:latin typeface="DM Mono"/>
              </a:rPr>
              <a:t>Tage bis Wochen</a:t>
            </a:r>
            <a:r>
              <a:rPr sz="1400" b="0">
                <a:solidFill>
                  <a:srgbClr val="E1A23E"/>
                </a:solidFill>
                <a:latin typeface="DM Mono"/>
              </a:rPr>
              <a:t>  →  </a:t>
            </a:r>
            <a:r>
              <a:rPr sz="1800" b="0">
                <a:solidFill>
                  <a:srgbClr val="10312B"/>
                </a:solidFill>
                <a:latin typeface="DM Serif Display"/>
              </a:rPr>
              <a:t>&lt; 24 Std.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68698" y="5010912"/>
            <a:ext cx="3454298" cy="86868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597298" y="5120640"/>
            <a:ext cx="29970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KOSTEN PRO ANALYSE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97298" y="5376672"/>
            <a:ext cx="308853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B66"/>
                </a:solidFill>
                <a:latin typeface="DM Mono"/>
              </a:rPr>
              <a:t>ab ~500 €</a:t>
            </a:r>
            <a:r>
              <a:rPr sz="1400" b="0">
                <a:solidFill>
                  <a:srgbClr val="E1A23E"/>
                </a:solidFill>
                <a:latin typeface="DM Mono"/>
              </a:rPr>
              <a:t>  →  </a:t>
            </a:r>
            <a:r>
              <a:rPr sz="1800" b="0">
                <a:solidFill>
                  <a:srgbClr val="10312B"/>
                </a:solidFill>
                <a:latin typeface="DM Serif Display"/>
              </a:rPr>
              <a:t>29–149 €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596" y="5010912"/>
            <a:ext cx="3454298" cy="86868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280196" y="5120640"/>
            <a:ext cx="29970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AKTUALITÄT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0196" y="5376672"/>
            <a:ext cx="308853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B66"/>
                </a:solidFill>
                <a:latin typeface="DM Mono"/>
              </a:rPr>
              <a:t>einmalig</a:t>
            </a:r>
            <a:r>
              <a:rPr sz="1400" b="0">
                <a:solidFill>
                  <a:srgbClr val="E1A23E"/>
                </a:solidFill>
                <a:latin typeface="DM Mono"/>
              </a:rPr>
              <a:t>  →  </a:t>
            </a:r>
            <a:r>
              <a:rPr sz="1800" b="0">
                <a:solidFill>
                  <a:srgbClr val="10312B"/>
                </a:solidFill>
                <a:latin typeface="DM Serif Display"/>
              </a:rPr>
              <a:t>monatlich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0312B"/>
                </a:solidFill>
                <a:latin typeface="DM Serif Display"/>
              </a:rPr>
              <a:t>hostwise</a:t>
            </a:r>
            <a:r>
              <a:rPr sz="1500" b="0">
                <a:solidFill>
                  <a:srgbClr val="E1A23E"/>
                </a:solidFill>
                <a:latin typeface="DM Serif Display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9319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WERTSCHÖPFUNG DURCH AUTOMATISIERUNG</a:t>
            </a:r>
          </a:p>
        </p:txBody>
      </p:sp>
      <p:sp>
        <p:nvSpPr>
          <p:cNvPr id="4" name="Freeform 3"/>
          <p:cNvSpPr/>
          <p:nvPr/>
        </p:nvSpPr>
        <p:spPr>
          <a:xfrm>
            <a:off x="685800" y="786384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1A23E"/>
                </a:solidFill>
                <a:latin typeface="DM Mono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3171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10312B"/>
                </a:solidFill>
                <a:latin typeface="DM Serif Display"/>
              </a:rPr>
              <a:t>Agenten erbringen den Service, der Mensch steuert – so entsteht Wert durch Automatisierung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B66"/>
                </a:solidFill>
                <a:latin typeface="Inter"/>
              </a:rPr>
              <a:t>Kosten und Margen laut Businessplan v1.0 (Zielwerte). Berater-Preis als Referenz für eine manuelle Ertrags-Analyse.</a:t>
            </a:r>
          </a:p>
        </p:txBody>
      </p:sp>
      <p:sp>
        <p:nvSpPr>
          <p:cNvPr id="8" name="Freeform 7"/>
          <p:cNvSpPr/>
          <p:nvPr/>
        </p:nvSpPr>
        <p:spPr>
          <a:xfrm>
            <a:off x="685800" y="6382512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HOSTWISE · ENTREPRENEURSHIP &amp; SERVICEENTWICKLUNG · HM WS 2026/27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7095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SEITE 7 /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057400"/>
            <a:ext cx="1106766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0312B"/>
                </a:solidFill>
                <a:latin typeface="Inter"/>
              </a:rPr>
              <a:t>Akquise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58526" y="2057400"/>
            <a:ext cx="1106766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0312B"/>
                </a:solidFill>
                <a:latin typeface="Inter"/>
              </a:rPr>
              <a:t>Kurz-Check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5293" y="2057400"/>
            <a:ext cx="1106766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0312B"/>
                </a:solidFill>
                <a:latin typeface="Inter"/>
              </a:rPr>
              <a:t>Daten-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0312B"/>
                </a:solidFill>
                <a:latin typeface="Inter"/>
              </a:rPr>
              <a:t>erfassung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2060" y="2057400"/>
            <a:ext cx="1106766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0312B"/>
                </a:solidFill>
                <a:latin typeface="Inter"/>
              </a:rPr>
              <a:t>Markt-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0312B"/>
                </a:solidFill>
                <a:latin typeface="Inter"/>
              </a:rPr>
              <a:t>vergleich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8827" y="2057400"/>
            <a:ext cx="1106766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0312B"/>
                </a:solidFill>
                <a:latin typeface="Inter"/>
              </a:rPr>
              <a:t>Analyse &amp;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0312B"/>
                </a:solidFill>
                <a:latin typeface="Inter"/>
              </a:rPr>
              <a:t>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5594" y="2057400"/>
            <a:ext cx="1106766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0312B"/>
                </a:solidFill>
                <a:latin typeface="Inter"/>
              </a:rPr>
              <a:t>Qualitäts-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0312B"/>
                </a:solidFill>
                <a:latin typeface="Inter"/>
              </a:rPr>
              <a:t>prüfung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2361" y="2057400"/>
            <a:ext cx="1106766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0312B"/>
                </a:solidFill>
                <a:latin typeface="Inter"/>
              </a:rPr>
              <a:t>Zustellung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0312B"/>
                </a:solidFill>
                <a:latin typeface="Inter"/>
              </a:rPr>
              <a:t>&amp;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99128" y="2057400"/>
            <a:ext cx="1106766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0312B"/>
                </a:solidFill>
                <a:latin typeface="Inter"/>
              </a:rPr>
              <a:t>Monitoring</a:t>
            </a:r>
          </a:p>
        </p:txBody>
      </p:sp>
      <p:sp>
        <p:nvSpPr>
          <p:cNvPr id="19" name="Freeform 18"/>
          <p:cNvSpPr/>
          <p:nvPr/>
        </p:nvSpPr>
        <p:spPr>
          <a:xfrm>
            <a:off x="685800" y="2606040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12700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7432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00">
                <a:solidFill>
                  <a:srgbClr val="5C6B66"/>
                </a:solidFill>
                <a:latin typeface="DM Mono"/>
              </a:rPr>
              <a:t>VORHER</a:t>
            </a:r>
          </a:p>
          <a:p>
            <a:pPr algn="l">
              <a:spcAft>
                <a:spcPts val="0"/>
              </a:spcAft>
            </a:pPr>
            <a:r>
              <a:rPr sz="900" b="0" spc="100">
                <a:solidFill>
                  <a:srgbClr val="5C6B66"/>
                </a:solidFill>
                <a:latin typeface="DM Mono"/>
              </a:rPr>
              <a:t>Klassische Beratung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56616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00">
                <a:solidFill>
                  <a:srgbClr val="B8862F"/>
                </a:solidFill>
                <a:latin typeface="DM Mono"/>
              </a:rPr>
              <a:t>NACHHER</a:t>
            </a:r>
          </a:p>
          <a:p>
            <a:pPr algn="l">
              <a:spcAft>
                <a:spcPts val="0"/>
              </a:spcAft>
            </a:pPr>
            <a:r>
              <a:rPr sz="900" b="0" spc="100">
                <a:solidFill>
                  <a:srgbClr val="B8862F"/>
                </a:solidFill>
                <a:latin typeface="DM Mono"/>
              </a:rPr>
              <a:t>hostwise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79" y="2788920"/>
            <a:ext cx="1015326" cy="548640"/>
          </a:xfrm>
          <a:prstGeom prst="rect">
            <a:avLst/>
          </a:prstGeom>
          <a:solidFill>
            <a:srgbClr val="ECE5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697479" y="2788920"/>
            <a:ext cx="101532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C6B66"/>
                </a:solidFill>
                <a:latin typeface="Inter"/>
              </a:rPr>
              <a:t>Mensch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C6B66"/>
                </a:solidFill>
                <a:latin typeface="Inter"/>
              </a:rPr>
              <a:t>Stunden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97479" y="3611880"/>
            <a:ext cx="1015326" cy="548640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697479" y="3611880"/>
            <a:ext cx="101532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Inter"/>
              </a:rPr>
              <a:t>KI-Agent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Inter"/>
              </a:rPr>
              <a:t>Vertriebs-Agent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04246" y="2788920"/>
            <a:ext cx="1015326" cy="548640"/>
          </a:xfrm>
          <a:prstGeom prst="rect">
            <a:avLst/>
          </a:prstGeom>
          <a:solidFill>
            <a:srgbClr val="ECE5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804246" y="2788920"/>
            <a:ext cx="101532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C6B66"/>
                </a:solidFill>
                <a:latin typeface="Inter"/>
              </a:rPr>
              <a:t>Mensch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C6B66"/>
                </a:solidFill>
                <a:latin typeface="Inter"/>
              </a:rPr>
              <a:t>Stunden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04246" y="3611880"/>
            <a:ext cx="1015326" cy="548640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804246" y="3611880"/>
            <a:ext cx="101532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Inter"/>
              </a:rPr>
              <a:t>KI-Agent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Inter"/>
              </a:rPr>
              <a:t>sofort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11013" y="2788920"/>
            <a:ext cx="1015326" cy="548640"/>
          </a:xfrm>
          <a:prstGeom prst="rect">
            <a:avLst/>
          </a:prstGeom>
          <a:solidFill>
            <a:srgbClr val="ECE5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911013" y="2788920"/>
            <a:ext cx="101532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C6B66"/>
                </a:solidFill>
                <a:latin typeface="Inter"/>
              </a:rPr>
              <a:t>Mensch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C6B66"/>
                </a:solidFill>
                <a:latin typeface="Inter"/>
              </a:rPr>
              <a:t>Stunden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11013" y="3611880"/>
            <a:ext cx="1015326" cy="548640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911013" y="3611880"/>
            <a:ext cx="101532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Inter"/>
              </a:rPr>
              <a:t>KI-Agent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Inter"/>
              </a:rPr>
              <a:t>Plausibilität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17780" y="2788920"/>
            <a:ext cx="1015326" cy="548640"/>
          </a:xfrm>
          <a:prstGeom prst="rect">
            <a:avLst/>
          </a:prstGeom>
          <a:solidFill>
            <a:srgbClr val="ECE5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017780" y="2788920"/>
            <a:ext cx="101532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C6B66"/>
                </a:solidFill>
                <a:latin typeface="Inter"/>
              </a:rPr>
              <a:t>Mensch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C6B66"/>
                </a:solidFill>
                <a:latin typeface="Inter"/>
              </a:rPr>
              <a:t>Stunden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17780" y="3611880"/>
            <a:ext cx="1015326" cy="548640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017780" y="3611880"/>
            <a:ext cx="101532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Inter"/>
              </a:rPr>
              <a:t>KI-Agent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Inter"/>
              </a:rPr>
              <a:t>Scraping-Agent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24547" y="2788920"/>
            <a:ext cx="1015326" cy="548640"/>
          </a:xfrm>
          <a:prstGeom prst="rect">
            <a:avLst/>
          </a:prstGeom>
          <a:solidFill>
            <a:srgbClr val="ECE5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124547" y="2788920"/>
            <a:ext cx="101532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C6B66"/>
                </a:solidFill>
                <a:latin typeface="Inter"/>
              </a:rPr>
              <a:t>Mensch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C6B66"/>
                </a:solidFill>
                <a:latin typeface="Inter"/>
              </a:rPr>
              <a:t>Stunden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24547" y="3611880"/>
            <a:ext cx="1015326" cy="548640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124547" y="3611880"/>
            <a:ext cx="101532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Inter"/>
              </a:rPr>
              <a:t>KI-Agent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Inter"/>
              </a:rPr>
              <a:t>Analyse-Agent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31314" y="2788920"/>
            <a:ext cx="1015326" cy="548640"/>
          </a:xfrm>
          <a:prstGeom prst="rect">
            <a:avLst/>
          </a:prstGeom>
          <a:solidFill>
            <a:srgbClr val="ECE5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231314" y="2788920"/>
            <a:ext cx="101532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C6B66"/>
                </a:solidFill>
                <a:latin typeface="Inter"/>
              </a:rPr>
              <a:t>Mensch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C6B66"/>
                </a:solidFill>
                <a:latin typeface="Inter"/>
              </a:rPr>
              <a:t>Stunden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31314" y="3611880"/>
            <a:ext cx="1015326" cy="548640"/>
          </a:xfrm>
          <a:prstGeom prst="rect">
            <a:avLst/>
          </a:prstGeom>
          <a:solidFill>
            <a:srgbClr val="E1A23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231314" y="3611880"/>
            <a:ext cx="101532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0312B"/>
                </a:solidFill>
                <a:latin typeface="Inter"/>
              </a:rPr>
              <a:t>Mensch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0312B"/>
                </a:solidFill>
                <a:latin typeface="Inter"/>
              </a:rPr>
              <a:t>Stichprobe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38081" y="2788920"/>
            <a:ext cx="1015326" cy="548640"/>
          </a:xfrm>
          <a:prstGeom prst="rect">
            <a:avLst/>
          </a:prstGeom>
          <a:solidFill>
            <a:srgbClr val="ECE5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9338081" y="2788920"/>
            <a:ext cx="101532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C6B66"/>
                </a:solidFill>
                <a:latin typeface="Inter"/>
              </a:rPr>
              <a:t>Mensch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C6B66"/>
                </a:solidFill>
                <a:latin typeface="Inter"/>
              </a:rPr>
              <a:t>Stunden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38081" y="3611880"/>
            <a:ext cx="1015326" cy="548640"/>
          </a:xfrm>
          <a:prstGeom prst="rect">
            <a:avLst/>
          </a:prstGeom>
          <a:solidFill>
            <a:srgbClr val="DDED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338081" y="3611880"/>
            <a:ext cx="101532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0312B"/>
                </a:solidFill>
                <a:latin typeface="Inter"/>
              </a:rPr>
              <a:t>KI + Mensch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0312B"/>
                </a:solidFill>
                <a:latin typeface="Inter"/>
              </a:rPr>
              <a:t>KI entwirft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444848" y="2788920"/>
            <a:ext cx="1015326" cy="548640"/>
          </a:xfrm>
          <a:prstGeom prst="rect">
            <a:avLst/>
          </a:prstGeom>
          <a:solidFill>
            <a:srgbClr val="ECE5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0444848" y="2788920"/>
            <a:ext cx="101532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C6B66"/>
                </a:solidFill>
                <a:latin typeface="Inter"/>
              </a:rPr>
              <a:t>Mensch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C6B66"/>
                </a:solidFill>
                <a:latin typeface="Inter"/>
              </a:rPr>
              <a:t>Stunden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444848" y="3611880"/>
            <a:ext cx="1015326" cy="548640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10444848" y="3611880"/>
            <a:ext cx="101532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Inter"/>
              </a:rPr>
              <a:t>KI-Agent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Inter"/>
              </a:rPr>
              <a:t>Re-Check</a:t>
            </a:r>
          </a:p>
        </p:txBody>
      </p:sp>
      <p:sp>
        <p:nvSpPr>
          <p:cNvPr id="54" name="Freeform 53"/>
          <p:cNvSpPr/>
          <p:nvPr/>
        </p:nvSpPr>
        <p:spPr>
          <a:xfrm>
            <a:off x="685800" y="4343400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4526280"/>
            <a:ext cx="339333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10312B"/>
                </a:solidFill>
                <a:latin typeface="DM Serif Display"/>
              </a:rPr>
              <a:t>~1,50 €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5120640"/>
            <a:ext cx="32104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5C6B66"/>
                </a:solidFill>
                <a:latin typeface="Inter"/>
              </a:rPr>
              <a:t>variable Kosten pro Quick-Check (API und Payment) – rund 95 % Marge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99178" y="4526280"/>
            <a:ext cx="339333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10312B"/>
                </a:solidFill>
                <a:latin typeface="DM Serif Display"/>
              </a:rPr>
              <a:t>2 von 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99178" y="5120640"/>
            <a:ext cx="32104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5C6B66"/>
                </a:solidFill>
                <a:latin typeface="Inter"/>
              </a:rPr>
              <a:t>Schritten brauchen noch einen Menschen – als Stichprobe oder als Freigabe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12556" y="4526280"/>
            <a:ext cx="339333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10312B"/>
                </a:solidFill>
                <a:latin typeface="DM Serif Display"/>
              </a:rPr>
              <a:t>30–45 Min.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12556" y="5120640"/>
            <a:ext cx="32104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5C6B66"/>
                </a:solidFill>
                <a:latin typeface="Inter"/>
              </a:rPr>
              <a:t>Betriebszeit pro Tag: Ads-KPIs, Support-Freigaben, Stichproben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0312B"/>
                </a:solidFill>
                <a:latin typeface="DM Serif Display"/>
              </a:rPr>
              <a:t>hostwise</a:t>
            </a:r>
            <a:r>
              <a:rPr sz="1500" b="0">
                <a:solidFill>
                  <a:srgbClr val="E1A23E"/>
                </a:solidFill>
                <a:latin typeface="DM Serif Display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9319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ZIELBILD · KI-BETRIEBENES UNTERNEHMEN</a:t>
            </a:r>
          </a:p>
        </p:txBody>
      </p:sp>
      <p:sp>
        <p:nvSpPr>
          <p:cNvPr id="4" name="Freeform 3"/>
          <p:cNvSpPr/>
          <p:nvPr/>
        </p:nvSpPr>
        <p:spPr>
          <a:xfrm>
            <a:off x="685800" y="786384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1A23E"/>
                </a:solidFill>
                <a:latin typeface="DM Mono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3171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10312B"/>
                </a:solidFill>
                <a:latin typeface="DM Serif Display"/>
              </a:rPr>
              <a:t>Ein zentrales „Gehirn“ koordiniert alle Agenten und macht den Betrieb im Dashboard sichtbar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B66"/>
                </a:solidFill>
                <a:latin typeface="Inter"/>
              </a:rPr>
              <a:t>Zielbild; Umsetzung schrittweise. Technische Basis laut Businessplan: Supabase, n8n, Claude API, Meta Ads, Stripe.</a:t>
            </a:r>
          </a:p>
        </p:txBody>
      </p:sp>
      <p:sp>
        <p:nvSpPr>
          <p:cNvPr id="8" name="Freeform 7"/>
          <p:cNvSpPr/>
          <p:nvPr/>
        </p:nvSpPr>
        <p:spPr>
          <a:xfrm>
            <a:off x="685800" y="6382512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HOSTWISE · ENTREPRENEURSHIP &amp; SERVICEENTWICKLUNG · HM WS 2026/27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7095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SEITE 8 / 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103120"/>
            <a:ext cx="3246120" cy="91440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85800" y="2103120"/>
            <a:ext cx="64008" cy="914400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231136"/>
            <a:ext cx="2834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0312B"/>
                </a:solidFill>
                <a:latin typeface="Inter"/>
              </a:rPr>
              <a:t>Vertriebs-Agent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32887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5C6B66"/>
                </a:solidFill>
                <a:latin typeface="Inter"/>
              </a:rPr>
              <a:t>Meta-Ads: Kampagnen, Budget-Shifts, Creative-Tests</a:t>
            </a:r>
          </a:p>
        </p:txBody>
      </p:sp>
      <p:sp>
        <p:nvSpPr>
          <p:cNvPr id="15" name="Freeform 14"/>
          <p:cNvSpPr/>
          <p:nvPr/>
        </p:nvSpPr>
        <p:spPr>
          <a:xfrm>
            <a:off x="3931920" y="2560320"/>
            <a:ext cx="941832" cy="377190"/>
          </a:xfrm>
          <a:custGeom>
            <a:avLst/>
            <a:gdLst/>
            <a:ahLst/>
            <a:cxnLst/>
            <a:rect l="l" t="t" r="r" b="b"/>
            <a:pathLst>
              <a:path w="941832" h="377190">
                <a:moveTo>
                  <a:pt x="0" y="0"/>
                </a:moveTo>
                <a:lnTo>
                  <a:pt x="941832" y="377190"/>
                </a:lnTo>
              </a:path>
            </a:pathLst>
          </a:custGeom>
          <a:noFill/>
          <a:ln w="15875">
            <a:solidFill>
              <a:srgbClr val="2E8B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200400"/>
            <a:ext cx="3246120" cy="91440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85800" y="3200400"/>
            <a:ext cx="64008" cy="914400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328416"/>
            <a:ext cx="2834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0312B"/>
                </a:solidFill>
                <a:latin typeface="Inter"/>
              </a:rPr>
              <a:t>Marketing-Agent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30168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5C6B66"/>
                </a:solidFill>
                <a:latin typeface="Inter"/>
              </a:rPr>
              <a:t>Ad-Creatives, Mail-Sequenzen, Upsell-Mails</a:t>
            </a:r>
          </a:p>
        </p:txBody>
      </p:sp>
      <p:sp>
        <p:nvSpPr>
          <p:cNvPr id="20" name="Freeform 19"/>
          <p:cNvSpPr/>
          <p:nvPr/>
        </p:nvSpPr>
        <p:spPr>
          <a:xfrm>
            <a:off x="3931920" y="3431286"/>
            <a:ext cx="941832" cy="226314"/>
          </a:xfrm>
          <a:custGeom>
            <a:avLst/>
            <a:gdLst/>
            <a:ahLst/>
            <a:cxnLst/>
            <a:rect l="l" t="t" r="r" b="b"/>
            <a:pathLst>
              <a:path w="941832" h="226314">
                <a:moveTo>
                  <a:pt x="0" y="226314"/>
                </a:moveTo>
                <a:lnTo>
                  <a:pt x="941832" y="0"/>
                </a:lnTo>
              </a:path>
            </a:pathLst>
          </a:custGeom>
          <a:noFill/>
          <a:ln w="15875">
            <a:solidFill>
              <a:srgbClr val="2E8B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297680"/>
            <a:ext cx="3246120" cy="91440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85800" y="4297680"/>
            <a:ext cx="64008" cy="914400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4400" y="4425696"/>
            <a:ext cx="2834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0312B"/>
                </a:solidFill>
                <a:latin typeface="Inter"/>
              </a:rPr>
              <a:t>Scraping-Agent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27448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5C6B66"/>
                </a:solidFill>
                <a:latin typeface="Inter"/>
              </a:rPr>
              <a:t>Marktpreise, Vergleichsobjekte, lokale Events</a:t>
            </a:r>
          </a:p>
        </p:txBody>
      </p:sp>
      <p:sp>
        <p:nvSpPr>
          <p:cNvPr id="25" name="Freeform 24"/>
          <p:cNvSpPr/>
          <p:nvPr/>
        </p:nvSpPr>
        <p:spPr>
          <a:xfrm>
            <a:off x="3931920" y="3925062"/>
            <a:ext cx="941832" cy="829818"/>
          </a:xfrm>
          <a:custGeom>
            <a:avLst/>
            <a:gdLst/>
            <a:ahLst/>
            <a:cxnLst/>
            <a:rect l="l" t="t" r="r" b="b"/>
            <a:pathLst>
              <a:path w="941832" h="829818">
                <a:moveTo>
                  <a:pt x="0" y="829818"/>
                </a:moveTo>
                <a:lnTo>
                  <a:pt x="941832" y="0"/>
                </a:lnTo>
              </a:path>
            </a:pathLst>
          </a:custGeom>
          <a:noFill/>
          <a:ln w="15875">
            <a:solidFill>
              <a:srgbClr val="2E8B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59775" y="2103120"/>
            <a:ext cx="3246120" cy="91440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1441887" y="2103120"/>
            <a:ext cx="64008" cy="914400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488375" y="2231136"/>
            <a:ext cx="2834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0312B"/>
                </a:solidFill>
                <a:latin typeface="Inter"/>
              </a:rPr>
              <a:t>Analyse-Agent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8375" y="2532887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5C6B66"/>
                </a:solidFill>
                <a:latin typeface="Inter"/>
              </a:rPr>
              <a:t>Score, Ertragslücke, Maßnahmen, Inseratstext</a:t>
            </a:r>
          </a:p>
        </p:txBody>
      </p:sp>
      <p:sp>
        <p:nvSpPr>
          <p:cNvPr id="30" name="Freeform 29"/>
          <p:cNvSpPr/>
          <p:nvPr/>
        </p:nvSpPr>
        <p:spPr>
          <a:xfrm>
            <a:off x="7315200" y="2560320"/>
            <a:ext cx="944575" cy="377190"/>
          </a:xfrm>
          <a:custGeom>
            <a:avLst/>
            <a:gdLst/>
            <a:ahLst/>
            <a:cxnLst/>
            <a:rect l="l" t="t" r="r" b="b"/>
            <a:pathLst>
              <a:path w="944575" h="377190">
                <a:moveTo>
                  <a:pt x="944575" y="0"/>
                </a:moveTo>
                <a:lnTo>
                  <a:pt x="0" y="377190"/>
                </a:lnTo>
              </a:path>
            </a:pathLst>
          </a:custGeom>
          <a:noFill/>
          <a:ln w="15875">
            <a:solidFill>
              <a:srgbClr val="2E8B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59775" y="3200400"/>
            <a:ext cx="3246120" cy="91440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11441887" y="3200400"/>
            <a:ext cx="64008" cy="914400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488375" y="3328416"/>
            <a:ext cx="2834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0312B"/>
                </a:solidFill>
                <a:latin typeface="Inter"/>
              </a:rPr>
              <a:t>Report-Agent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8375" y="3630168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5C6B66"/>
                </a:solidFill>
                <a:latin typeface="Inter"/>
              </a:rPr>
              <a:t>Report als PDF, Zustellung per Mail und Dashboard</a:t>
            </a:r>
          </a:p>
        </p:txBody>
      </p:sp>
      <p:sp>
        <p:nvSpPr>
          <p:cNvPr id="35" name="Freeform 34"/>
          <p:cNvSpPr/>
          <p:nvPr/>
        </p:nvSpPr>
        <p:spPr>
          <a:xfrm>
            <a:off x="7315200" y="3431286"/>
            <a:ext cx="944575" cy="226314"/>
          </a:xfrm>
          <a:custGeom>
            <a:avLst/>
            <a:gdLst/>
            <a:ahLst/>
            <a:cxnLst/>
            <a:rect l="l" t="t" r="r" b="b"/>
            <a:pathLst>
              <a:path w="944575" h="226314">
                <a:moveTo>
                  <a:pt x="944575" y="226314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2E8B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59775" y="4297680"/>
            <a:ext cx="3246120" cy="91440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11441887" y="4297680"/>
            <a:ext cx="64008" cy="914400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88375" y="4425696"/>
            <a:ext cx="2834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0312B"/>
                </a:solidFill>
                <a:latin typeface="Inter"/>
              </a:rPr>
              <a:t>Support- &amp; Monitor-Agent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88375" y="4727448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5C6B66"/>
                </a:solidFill>
                <a:latin typeface="Inter"/>
              </a:rPr>
              <a:t>Antwortentwürfe, monatlicher Re-Check, Alerts</a:t>
            </a:r>
          </a:p>
        </p:txBody>
      </p:sp>
      <p:sp>
        <p:nvSpPr>
          <p:cNvPr id="40" name="Freeform 39"/>
          <p:cNvSpPr/>
          <p:nvPr/>
        </p:nvSpPr>
        <p:spPr>
          <a:xfrm>
            <a:off x="7315200" y="3925062"/>
            <a:ext cx="944575" cy="829818"/>
          </a:xfrm>
          <a:custGeom>
            <a:avLst/>
            <a:gdLst/>
            <a:ahLst/>
            <a:cxnLst/>
            <a:rect l="l" t="t" r="r" b="b"/>
            <a:pathLst>
              <a:path w="944575" h="829818">
                <a:moveTo>
                  <a:pt x="944575" y="829818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2E8B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873752" y="2240280"/>
            <a:ext cx="2441448" cy="2011680"/>
          </a:xfrm>
          <a:prstGeom prst="roundRect">
            <a:avLst>
              <a:gd name="adj" fmla="val 8000"/>
            </a:avLst>
          </a:prstGeom>
          <a:solidFill>
            <a:srgbClr val="1031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42" name="Picture 41" descr="hw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6" y="2441448"/>
            <a:ext cx="457200" cy="4572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873752" y="2990088"/>
            <a:ext cx="2441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>
                <a:solidFill>
                  <a:srgbClr val="F6F2EA"/>
                </a:solidFill>
                <a:latin typeface="DM Serif Display"/>
              </a:rPr>
              <a:t>hostwise-Gehirn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56632" y="3410712"/>
            <a:ext cx="207568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850" b="0" spc="50">
                <a:solidFill>
                  <a:srgbClr val="C6CFC7"/>
                </a:solidFill>
                <a:latin typeface="DM Mono"/>
              </a:rPr>
              <a:t>Dashboard · Kundendaten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850" b="0" spc="50">
                <a:solidFill>
                  <a:srgbClr val="C6CFC7"/>
                </a:solidFill>
                <a:latin typeface="DM Mono"/>
              </a:rPr>
              <a:t>Orchestrierung · Freigaben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73752" y="4617720"/>
            <a:ext cx="2441448" cy="1051560"/>
          </a:xfrm>
          <a:prstGeom prst="rect">
            <a:avLst/>
          </a:prstGeom>
          <a:solidFill>
            <a:srgbClr val="F5E6C8"/>
          </a:solidFill>
          <a:ln w="12700">
            <a:solidFill>
              <a:srgbClr val="E1A23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6" name="Freeform 45"/>
          <p:cNvSpPr/>
          <p:nvPr/>
        </p:nvSpPr>
        <p:spPr>
          <a:xfrm>
            <a:off x="6094476" y="4251960"/>
            <a:ext cx="0" cy="365760"/>
          </a:xfrm>
          <a:custGeom>
            <a:avLst/>
            <a:gdLst/>
            <a:ahLst/>
            <a:cxnLst/>
            <a:rect l="l" t="t" r="r" b="b"/>
            <a:pathLst>
              <a:path w="0" h="365760">
                <a:moveTo>
                  <a:pt x="0" y="36576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B8862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56632" y="4709160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0312B"/>
                </a:solidFill>
                <a:latin typeface="Inter"/>
              </a:rPr>
              <a:t>Gründerteam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56632" y="4983480"/>
            <a:ext cx="20756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0312B"/>
                </a:solidFill>
                <a:latin typeface="Inter"/>
              </a:rPr>
              <a:t>setzt Ziele, gibt frei, prüft Stichproben – rund 30–45 Min. am Tag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0312B"/>
                </a:solidFill>
                <a:latin typeface="DM Serif Display"/>
              </a:rPr>
              <a:t>hostwise</a:t>
            </a:r>
            <a:r>
              <a:rPr sz="1500" b="0">
                <a:solidFill>
                  <a:srgbClr val="E1A23E"/>
                </a:solidFill>
                <a:latin typeface="DM Serif Display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9319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GESCHÄFTSMODELL &amp; NÄCHSTE SCHRITTE</a:t>
            </a:r>
          </a:p>
        </p:txBody>
      </p:sp>
      <p:sp>
        <p:nvSpPr>
          <p:cNvPr id="4" name="Freeform 3"/>
          <p:cNvSpPr/>
          <p:nvPr/>
        </p:nvSpPr>
        <p:spPr>
          <a:xfrm>
            <a:off x="685800" y="786384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1A23E"/>
                </a:solidFill>
                <a:latin typeface="DM Mono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3171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10312B"/>
                </a:solidFill>
                <a:latin typeface="DM Serif Display"/>
              </a:rPr>
              <a:t>Ein digitales Produkt mit fast null Grenzkosten – entscheidend sind Akquisekosten und Vertrauen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B66"/>
                </a:solidFill>
                <a:latin typeface="Inter"/>
              </a:rPr>
              <a:t>Risiken: Akquisekosten über Meta, Glaubwürdigkeit der Schätzung, Zugang zu Marktdaten, Namenskonflikt „Hostwise“. Alle Werte sind Planungsannahmen.</a:t>
            </a:r>
          </a:p>
        </p:txBody>
      </p:sp>
      <p:sp>
        <p:nvSpPr>
          <p:cNvPr id="8" name="Freeform 7"/>
          <p:cNvSpPr/>
          <p:nvPr/>
        </p:nvSpPr>
        <p:spPr>
          <a:xfrm>
            <a:off x="685800" y="6382512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HOSTWISE · ENTREPRENEURSHIP &amp; SERVICEENTWICKLUNG · HM WS 2026/27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7095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SEITE 9 / 14</a:t>
            </a:r>
          </a:p>
        </p:txBody>
      </p:sp>
      <p:sp>
        <p:nvSpPr>
          <p:cNvPr id="11" name="Freeform 10"/>
          <p:cNvSpPr/>
          <p:nvPr/>
        </p:nvSpPr>
        <p:spPr>
          <a:xfrm>
            <a:off x="685800" y="2103120"/>
            <a:ext cx="2499283" cy="0"/>
          </a:xfrm>
          <a:custGeom>
            <a:avLst/>
            <a:gdLst/>
            <a:ahLst/>
            <a:cxnLst/>
            <a:rect l="l" t="t" r="r" b="b"/>
            <a:pathLst>
              <a:path w="2499283" h="0">
                <a:moveTo>
                  <a:pt x="0" y="0"/>
                </a:moveTo>
                <a:lnTo>
                  <a:pt x="2499283" y="0"/>
                </a:lnTo>
              </a:path>
            </a:pathLst>
          </a:custGeom>
          <a:noFill/>
          <a:ln w="12700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40280"/>
            <a:ext cx="24992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10312B"/>
                </a:solidFill>
                <a:latin typeface="DM Serif Display"/>
              </a:rPr>
              <a:t>Erlöse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2499283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700"/>
              </a:spcAft>
              <a:buClr>
                <a:srgbClr val="E1A23E"/>
              </a:buClr>
              <a:buSzPct val="80000"/>
              <a:buFont typeface="Arial"/>
              <a:buChar char="■"/>
            </a:pPr>
            <a:r>
              <a:rPr sz="1150" b="0">
                <a:solidFill>
                  <a:srgbClr val="10312B"/>
                </a:solidFill>
                <a:latin typeface="Inter"/>
              </a:rPr>
              <a:t>Quick-Check 29 € einmalig</a:t>
            </a:r>
          </a:p>
          <a:p>
            <a:pPr algn="l" marL="182880" indent="-182880">
              <a:lnSpc>
                <a:spcPct val="115000"/>
              </a:lnSpc>
              <a:spcAft>
                <a:spcPts val="700"/>
              </a:spcAft>
              <a:buClr>
                <a:srgbClr val="E1A23E"/>
              </a:buClr>
              <a:buSzPct val="80000"/>
              <a:buFont typeface="Arial"/>
              <a:buChar char="■"/>
            </a:pPr>
            <a:r>
              <a:rPr sz="1150" b="0">
                <a:solidFill>
                  <a:srgbClr val="10312B"/>
                </a:solidFill>
                <a:latin typeface="Inter"/>
              </a:rPr>
              <a:t>Komplett-Analyse 149 € einmalig</a:t>
            </a:r>
          </a:p>
          <a:p>
            <a:pPr algn="l" marL="182880" indent="-182880">
              <a:lnSpc>
                <a:spcPct val="115000"/>
              </a:lnSpc>
              <a:spcAft>
                <a:spcPts val="700"/>
              </a:spcAft>
              <a:buClr>
                <a:srgbClr val="E1A23E"/>
              </a:buClr>
              <a:buSzPct val="80000"/>
              <a:buFont typeface="Arial"/>
              <a:buChar char="■"/>
            </a:pPr>
            <a:r>
              <a:rPr sz="1150" b="0">
                <a:solidFill>
                  <a:srgbClr val="10312B"/>
                </a:solidFill>
                <a:latin typeface="Inter"/>
              </a:rPr>
              <a:t>hostwise Monitor 39 €/Monat</a:t>
            </a:r>
          </a:p>
          <a:p>
            <a:pPr algn="l" marL="182880" indent="-182880">
              <a:lnSpc>
                <a:spcPct val="115000"/>
              </a:lnSpc>
              <a:spcAft>
                <a:spcPts val="700"/>
              </a:spcAft>
              <a:buClr>
                <a:srgbClr val="E1A23E"/>
              </a:buClr>
              <a:buSzPct val="80000"/>
              <a:buFont typeface="Arial"/>
              <a:buChar char="■"/>
            </a:pPr>
            <a:r>
              <a:rPr sz="1150" b="0">
                <a:solidFill>
                  <a:srgbClr val="10312B"/>
                </a:solidFill>
                <a:latin typeface="Inter"/>
              </a:rPr>
              <a:t>Später: Multi-Objekt 99–249 €/Monat</a:t>
            </a:r>
          </a:p>
          <a:p>
            <a:pPr algn="l" marL="182880" indent="-182880">
              <a:lnSpc>
                <a:spcPct val="115000"/>
              </a:lnSpc>
              <a:spcAft>
                <a:spcPts val="700"/>
              </a:spcAft>
              <a:buClr>
                <a:srgbClr val="E1A23E"/>
              </a:buClr>
              <a:buSzPct val="80000"/>
              <a:buFont typeface="Arial"/>
              <a:buChar char="■"/>
            </a:pPr>
            <a:r>
              <a:rPr sz="1150" b="0">
                <a:solidFill>
                  <a:srgbClr val="10312B"/>
                </a:solidFill>
                <a:latin typeface="Inter"/>
              </a:rPr>
              <a:t>Optional: Affiliate-Provisionen von Preis-Tools</a:t>
            </a:r>
          </a:p>
        </p:txBody>
      </p:sp>
      <p:sp>
        <p:nvSpPr>
          <p:cNvPr id="14" name="Freeform 13"/>
          <p:cNvSpPr/>
          <p:nvPr/>
        </p:nvSpPr>
        <p:spPr>
          <a:xfrm>
            <a:off x="3459403" y="2103120"/>
            <a:ext cx="2499284" cy="0"/>
          </a:xfrm>
          <a:custGeom>
            <a:avLst/>
            <a:gdLst/>
            <a:ahLst/>
            <a:cxnLst/>
            <a:rect l="l" t="t" r="r" b="b"/>
            <a:pathLst>
              <a:path w="2499284" h="0">
                <a:moveTo>
                  <a:pt x="0" y="0"/>
                </a:moveTo>
                <a:lnTo>
                  <a:pt x="2499284" y="0"/>
                </a:lnTo>
              </a:path>
            </a:pathLst>
          </a:custGeom>
          <a:noFill/>
          <a:ln w="12700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9403" y="2240280"/>
            <a:ext cx="24992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10312B"/>
                </a:solidFill>
                <a:latin typeface="DM Serif Display"/>
              </a:rPr>
              <a:t>Unit Economics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9403" y="2743200"/>
            <a:ext cx="2499283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700"/>
              </a:spcAft>
              <a:buClr>
                <a:srgbClr val="E1A23E"/>
              </a:buClr>
              <a:buSzPct val="80000"/>
              <a:buFont typeface="Arial"/>
              <a:buChar char="■"/>
            </a:pPr>
            <a:r>
              <a:rPr sz="1150" b="0">
                <a:solidFill>
                  <a:srgbClr val="10312B"/>
                </a:solidFill>
                <a:latin typeface="Inter"/>
              </a:rPr>
              <a:t>~95 % Marge auf den Quick-Check</a:t>
            </a:r>
          </a:p>
          <a:p>
            <a:pPr algn="l" marL="182880" indent="-182880">
              <a:lnSpc>
                <a:spcPct val="115000"/>
              </a:lnSpc>
              <a:spcAft>
                <a:spcPts val="700"/>
              </a:spcAft>
              <a:buClr>
                <a:srgbClr val="E1A23E"/>
              </a:buClr>
              <a:buSzPct val="80000"/>
              <a:buFont typeface="Arial"/>
              <a:buChar char="■"/>
            </a:pPr>
            <a:r>
              <a:rPr sz="1150" b="0">
                <a:solidFill>
                  <a:srgbClr val="10312B"/>
                </a:solidFill>
                <a:latin typeface="Inter"/>
              </a:rPr>
              <a:t>Ziel-CAC über Meta unter 15 €</a:t>
            </a:r>
          </a:p>
          <a:p>
            <a:pPr algn="l" marL="182880" indent="-182880">
              <a:lnSpc>
                <a:spcPct val="115000"/>
              </a:lnSpc>
              <a:spcAft>
                <a:spcPts val="700"/>
              </a:spcAft>
              <a:buClr>
                <a:srgbClr val="E1A23E"/>
              </a:buClr>
              <a:buSzPct val="80000"/>
              <a:buFont typeface="Arial"/>
              <a:buChar char="■"/>
            </a:pPr>
            <a:r>
              <a:rPr sz="1150" b="0">
                <a:solidFill>
                  <a:srgbClr val="10312B"/>
                </a:solidFill>
                <a:latin typeface="Inter"/>
              </a:rPr>
              <a:t>Break-even des Ad-Budgets: 25 bis 35 Quick-Checks oder rund 5 Komplett-Analysen</a:t>
            </a:r>
          </a:p>
          <a:p>
            <a:pPr algn="l" marL="182880" indent="-182880">
              <a:lnSpc>
                <a:spcPct val="115000"/>
              </a:lnSpc>
              <a:spcAft>
                <a:spcPts val="700"/>
              </a:spcAft>
              <a:buClr>
                <a:srgbClr val="E1A23E"/>
              </a:buClr>
              <a:buSzPct val="80000"/>
              <a:buFont typeface="Arial"/>
              <a:buChar char="■"/>
            </a:pPr>
            <a:r>
              <a:rPr sz="1150" b="0">
                <a:solidFill>
                  <a:srgbClr val="10312B"/>
                </a:solidFill>
                <a:latin typeface="Inter"/>
              </a:rPr>
              <a:t>20 Monitor-Kunden = 780 € pro Monat</a:t>
            </a:r>
          </a:p>
        </p:txBody>
      </p:sp>
      <p:sp>
        <p:nvSpPr>
          <p:cNvPr id="17" name="Freeform 16"/>
          <p:cNvSpPr/>
          <p:nvPr/>
        </p:nvSpPr>
        <p:spPr>
          <a:xfrm>
            <a:off x="6233007" y="2103120"/>
            <a:ext cx="2499284" cy="0"/>
          </a:xfrm>
          <a:custGeom>
            <a:avLst/>
            <a:gdLst/>
            <a:ahLst/>
            <a:cxnLst/>
            <a:rect l="l" t="t" r="r" b="b"/>
            <a:pathLst>
              <a:path w="2499284" h="0">
                <a:moveTo>
                  <a:pt x="0" y="0"/>
                </a:moveTo>
                <a:lnTo>
                  <a:pt x="2499284" y="0"/>
                </a:lnTo>
              </a:path>
            </a:pathLst>
          </a:custGeom>
          <a:noFill/>
          <a:ln w="12700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007" y="2240280"/>
            <a:ext cx="24992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10312B"/>
                </a:solidFill>
                <a:latin typeface="DM Serif Display"/>
              </a:rPr>
              <a:t>Kanäle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743200"/>
            <a:ext cx="2499283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700"/>
              </a:spcAft>
              <a:buClr>
                <a:srgbClr val="E1A23E"/>
              </a:buClr>
              <a:buSzPct val="80000"/>
              <a:buFont typeface="Arial"/>
              <a:buChar char="■"/>
            </a:pPr>
            <a:r>
              <a:rPr sz="1150" b="0">
                <a:solidFill>
                  <a:srgbClr val="10312B"/>
                </a:solidFill>
                <a:latin typeface="Inter"/>
              </a:rPr>
              <a:t>Meta Ads mit dem Geldverlust-Hook</a:t>
            </a:r>
          </a:p>
          <a:p>
            <a:pPr algn="l" marL="182880" indent="-182880">
              <a:lnSpc>
                <a:spcPct val="115000"/>
              </a:lnSpc>
              <a:spcAft>
                <a:spcPts val="700"/>
              </a:spcAft>
              <a:buClr>
                <a:srgbClr val="E1A23E"/>
              </a:buClr>
              <a:buSzPct val="80000"/>
              <a:buFont typeface="Arial"/>
              <a:buChar char="■"/>
            </a:pPr>
            <a:r>
              <a:rPr sz="1150" b="0">
                <a:solidFill>
                  <a:srgbClr val="10312B"/>
                </a:solidFill>
                <a:latin typeface="Inter"/>
              </a:rPr>
              <a:t>Kostenloser Kurz-Check als Lead-Magnet plus Mail-Sequenz</a:t>
            </a:r>
          </a:p>
          <a:p>
            <a:pPr algn="l" marL="182880" indent="-182880">
              <a:lnSpc>
                <a:spcPct val="115000"/>
              </a:lnSpc>
              <a:spcAft>
                <a:spcPts val="700"/>
              </a:spcAft>
              <a:buClr>
                <a:srgbClr val="E1A23E"/>
              </a:buClr>
              <a:buSzPct val="80000"/>
              <a:buFont typeface="Arial"/>
              <a:buChar char="■"/>
            </a:pPr>
            <a:r>
              <a:rPr sz="1150" b="0">
                <a:solidFill>
                  <a:srgbClr val="10312B"/>
                </a:solidFill>
                <a:latin typeface="Inter"/>
              </a:rPr>
              <a:t>Tourismusverbände und Kurverwaltungen, regional starten (z. B. Oberbayern)</a:t>
            </a:r>
          </a:p>
        </p:txBody>
      </p:sp>
      <p:sp>
        <p:nvSpPr>
          <p:cNvPr id="20" name="Freeform 19"/>
          <p:cNvSpPr/>
          <p:nvPr/>
        </p:nvSpPr>
        <p:spPr>
          <a:xfrm>
            <a:off x="9006611" y="2103120"/>
            <a:ext cx="2499284" cy="0"/>
          </a:xfrm>
          <a:custGeom>
            <a:avLst/>
            <a:gdLst/>
            <a:ahLst/>
            <a:cxnLst/>
            <a:rect l="l" t="t" r="r" b="b"/>
            <a:pathLst>
              <a:path w="2499284" h="0">
                <a:moveTo>
                  <a:pt x="0" y="0"/>
                </a:moveTo>
                <a:lnTo>
                  <a:pt x="2499284" y="0"/>
                </a:lnTo>
              </a:path>
            </a:pathLst>
          </a:custGeom>
          <a:noFill/>
          <a:ln w="12700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611" y="2240280"/>
            <a:ext cx="24992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10312B"/>
                </a:solidFill>
                <a:latin typeface="DM Serif Display"/>
              </a:rPr>
              <a:t>Bis zum Pflichtenheft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611" y="2743200"/>
            <a:ext cx="2499283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700"/>
              </a:spcAft>
              <a:buClr>
                <a:srgbClr val="E1A23E"/>
              </a:buClr>
              <a:buSzPct val="80000"/>
              <a:buFont typeface="Arial"/>
              <a:buChar char="■"/>
            </a:pPr>
            <a:r>
              <a:rPr sz="1150" b="0">
                <a:solidFill>
                  <a:srgbClr val="10312B"/>
                </a:solidFill>
                <a:latin typeface="Inter"/>
              </a:rPr>
              <a:t>Gespräche mit 5–10 Vermietern</a:t>
            </a:r>
          </a:p>
          <a:p>
            <a:pPr algn="l" marL="182880" indent="-182880">
              <a:lnSpc>
                <a:spcPct val="115000"/>
              </a:lnSpc>
              <a:spcAft>
                <a:spcPts val="700"/>
              </a:spcAft>
              <a:buClr>
                <a:srgbClr val="E1A23E"/>
              </a:buClr>
              <a:buSzPct val="80000"/>
              <a:buFont typeface="Arial"/>
              <a:buChar char="■"/>
            </a:pPr>
            <a:r>
              <a:rPr sz="1150" b="0">
                <a:solidFill>
                  <a:srgbClr val="10312B"/>
                </a:solidFill>
                <a:latin typeface="Inter"/>
              </a:rPr>
              <a:t>Beta mit 3–5 echten Objekten</a:t>
            </a:r>
          </a:p>
          <a:p>
            <a:pPr algn="l" marL="182880" indent="-182880">
              <a:lnSpc>
                <a:spcPct val="115000"/>
              </a:lnSpc>
              <a:spcAft>
                <a:spcPts val="700"/>
              </a:spcAft>
              <a:buClr>
                <a:srgbClr val="E1A23E"/>
              </a:buClr>
              <a:buSzPct val="80000"/>
              <a:buFont typeface="Arial"/>
              <a:buChar char="■"/>
            </a:pPr>
            <a:r>
              <a:rPr sz="1150" b="0">
                <a:solidFill>
                  <a:srgbClr val="10312B"/>
                </a:solidFill>
                <a:latin typeface="Inter"/>
              </a:rPr>
              <a:t>Legale Quelle für Marktdaten klären</a:t>
            </a:r>
          </a:p>
          <a:p>
            <a:pPr algn="l" marL="182880" indent="-182880">
              <a:lnSpc>
                <a:spcPct val="115000"/>
              </a:lnSpc>
              <a:spcAft>
                <a:spcPts val="700"/>
              </a:spcAft>
              <a:buClr>
                <a:srgbClr val="E1A23E"/>
              </a:buClr>
              <a:buSzPct val="80000"/>
              <a:buFont typeface="Arial"/>
              <a:buChar char="■"/>
            </a:pPr>
            <a:r>
              <a:rPr sz="1150" b="0">
                <a:solidFill>
                  <a:srgbClr val="10312B"/>
                </a:solidFill>
                <a:latin typeface="Inter"/>
              </a:rPr>
              <a:t>Markenprüfung bei DPMA und EUIPO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257800"/>
            <a:ext cx="10820095" cy="594360"/>
          </a:xfrm>
          <a:prstGeom prst="rect">
            <a:avLst/>
          </a:prstGeom>
          <a:solidFill>
            <a:srgbClr val="1031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5257800"/>
            <a:ext cx="1027145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spc="100">
                <a:solidFill>
                  <a:srgbClr val="E1A23E"/>
                </a:solidFill>
                <a:latin typeface="DM Mono"/>
              </a:rPr>
              <a:t>Meilensteine laut Plan:  </a:t>
            </a:r>
            <a:r>
              <a:rPr sz="1150" b="0">
                <a:solidFill>
                  <a:srgbClr val="F6F2EA"/>
                </a:solidFill>
                <a:latin typeface="Inter"/>
              </a:rPr>
              <a:t>erster zahlender Kunde Tag 14–21  ·  1.000 € Umsatz Tag 45  ·  10 Monitor-Abos Tag 90  ·  1.000 € MRR Tag 120–150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0312B"/>
                </a:solidFill>
                <a:latin typeface="DM Serif Display"/>
              </a:rPr>
              <a:t>hostwise</a:t>
            </a:r>
            <a:r>
              <a:rPr sz="1500" b="0">
                <a:solidFill>
                  <a:srgbClr val="E1A23E"/>
                </a:solidFill>
                <a:latin typeface="DM Serif Display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9319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SERVICEPROZESS · ÜBERBLICK</a:t>
            </a:r>
          </a:p>
        </p:txBody>
      </p:sp>
      <p:sp>
        <p:nvSpPr>
          <p:cNvPr id="4" name="Freeform 3"/>
          <p:cNvSpPr/>
          <p:nvPr/>
        </p:nvSpPr>
        <p:spPr>
          <a:xfrm>
            <a:off x="685800" y="786384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1A23E"/>
                </a:solidFill>
                <a:latin typeface="DM Mono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3171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10312B"/>
                </a:solidFill>
                <a:latin typeface="DM Serif Display"/>
              </a:rPr>
              <a:t>Der Service zerfällt in vier Teilprozesse, die getrennt voneinander bearbeitet werden können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B66"/>
                </a:solidFill>
                <a:latin typeface="Inter"/>
              </a:rPr>
              <a:t>Notation angelehnt an die Serviceprozess-Darstellung der Vorlesung: Kundenkontakt sandfarben, Team weiß, automatisierte Schritte grün umrandet.</a:t>
            </a:r>
          </a:p>
        </p:txBody>
      </p:sp>
      <p:sp>
        <p:nvSpPr>
          <p:cNvPr id="8" name="Freeform 7"/>
          <p:cNvSpPr/>
          <p:nvPr/>
        </p:nvSpPr>
        <p:spPr>
          <a:xfrm>
            <a:off x="685800" y="6382512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HOSTWISE · ENTREPRENEURSHIP &amp; SERVICEENTWICKLUNG · HM WS 2026/27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7095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SEITE 10 / 14</a:t>
            </a:r>
          </a:p>
        </p:txBody>
      </p:sp>
      <p:sp>
        <p:nvSpPr>
          <p:cNvPr id="11" name="Freeform 10"/>
          <p:cNvSpPr/>
          <p:nvPr/>
        </p:nvSpPr>
        <p:spPr>
          <a:xfrm>
            <a:off x="685800" y="2103120"/>
            <a:ext cx="2499283" cy="0"/>
          </a:xfrm>
          <a:custGeom>
            <a:avLst/>
            <a:gdLst/>
            <a:ahLst/>
            <a:cxnLst/>
            <a:rect l="l" t="t" r="r" b="b"/>
            <a:pathLst>
              <a:path w="2499283" h="0">
                <a:moveTo>
                  <a:pt x="0" y="0"/>
                </a:moveTo>
                <a:lnTo>
                  <a:pt x="2499283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40280"/>
            <a:ext cx="24992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TEILPROZESS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87168"/>
            <a:ext cx="24992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0312B"/>
                </a:solidFill>
                <a:latin typeface="DM Serif Display"/>
              </a:rPr>
              <a:t>Akquise &amp; Kauf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26080"/>
            <a:ext cx="24078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C6B66"/>
                </a:solidFill>
                <a:latin typeface="Inter"/>
              </a:rPr>
              <a:t>Vom Ad-Klick über den kostenlosen Kurz-Check bis zum bezahlten Auftrag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639312"/>
            <a:ext cx="2499283" cy="329184"/>
          </a:xfrm>
          <a:prstGeom prst="rect">
            <a:avLst/>
          </a:prstGeom>
          <a:solidFill>
            <a:srgbClr val="DDED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95528" y="3639312"/>
            <a:ext cx="231640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2E8B67"/>
                </a:solidFill>
                <a:latin typeface="DM Mono"/>
              </a:rPr>
              <a:t>Ohne Team: 5 von 5 Schritten</a:t>
            </a:r>
          </a:p>
        </p:txBody>
      </p:sp>
      <p:sp>
        <p:nvSpPr>
          <p:cNvPr id="17" name="Freeform 16"/>
          <p:cNvSpPr/>
          <p:nvPr/>
        </p:nvSpPr>
        <p:spPr>
          <a:xfrm>
            <a:off x="3459403" y="2103120"/>
            <a:ext cx="2499284" cy="0"/>
          </a:xfrm>
          <a:custGeom>
            <a:avLst/>
            <a:gdLst/>
            <a:ahLst/>
            <a:cxnLst/>
            <a:rect l="l" t="t" r="r" b="b"/>
            <a:pathLst>
              <a:path w="2499284" h="0">
                <a:moveTo>
                  <a:pt x="0" y="0"/>
                </a:moveTo>
                <a:lnTo>
                  <a:pt x="2499284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9403" y="2240280"/>
            <a:ext cx="24992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TEILPROZESS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9403" y="2487168"/>
            <a:ext cx="24992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0312B"/>
                </a:solidFill>
                <a:latin typeface="DM Serif Display"/>
              </a:rPr>
              <a:t>Erfassung &amp; Analyse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2926080"/>
            <a:ext cx="24078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C6B66"/>
                </a:solidFill>
                <a:latin typeface="Inter"/>
              </a:rPr>
              <a:t>Objektdaten erfassen, auf Plausibilität prüfen, mit dem Markt vergleichen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59403" y="3639312"/>
            <a:ext cx="2499283" cy="329184"/>
          </a:xfrm>
          <a:prstGeom prst="rect">
            <a:avLst/>
          </a:prstGeom>
          <a:solidFill>
            <a:srgbClr val="DDED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569131" y="3639312"/>
            <a:ext cx="231640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2E8B67"/>
                </a:solidFill>
                <a:latin typeface="DM Mono"/>
              </a:rPr>
              <a:t>Ohne Team: 5 von 5 Schritten</a:t>
            </a:r>
          </a:p>
        </p:txBody>
      </p:sp>
      <p:sp>
        <p:nvSpPr>
          <p:cNvPr id="23" name="Freeform 22"/>
          <p:cNvSpPr/>
          <p:nvPr/>
        </p:nvSpPr>
        <p:spPr>
          <a:xfrm>
            <a:off x="6233007" y="2103120"/>
            <a:ext cx="2499284" cy="0"/>
          </a:xfrm>
          <a:custGeom>
            <a:avLst/>
            <a:gdLst/>
            <a:ahLst/>
            <a:cxnLst/>
            <a:rect l="l" t="t" r="r" b="b"/>
            <a:pathLst>
              <a:path w="2499284" h="0">
                <a:moveTo>
                  <a:pt x="0" y="0"/>
                </a:moveTo>
                <a:lnTo>
                  <a:pt x="2499284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3007" y="2240280"/>
            <a:ext cx="24992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TEILPROZESS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3007" y="2487168"/>
            <a:ext cx="24992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0312B"/>
                </a:solidFill>
                <a:latin typeface="DM Serif Display"/>
              </a:rPr>
              <a:t>Prüfung &amp; Zustellung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3007" y="2926080"/>
            <a:ext cx="24078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C6B66"/>
                </a:solidFill>
                <a:latin typeface="Inter"/>
              </a:rPr>
              <a:t>KI-Qualitätscheck, Zustellung, Rückfragen; das Team prüft nur Auffälligkeiten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3007" y="3639312"/>
            <a:ext cx="2499283" cy="329184"/>
          </a:xfrm>
          <a:prstGeom prst="rect">
            <a:avLst/>
          </a:prstGeom>
          <a:solidFill>
            <a:srgbClr val="DDED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342735" y="3639312"/>
            <a:ext cx="231640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2E8B67"/>
                </a:solidFill>
                <a:latin typeface="DM Mono"/>
              </a:rPr>
              <a:t>Ohne Team: 3 von 5 Schritten</a:t>
            </a:r>
          </a:p>
        </p:txBody>
      </p:sp>
      <p:sp>
        <p:nvSpPr>
          <p:cNvPr id="29" name="Freeform 28"/>
          <p:cNvSpPr/>
          <p:nvPr/>
        </p:nvSpPr>
        <p:spPr>
          <a:xfrm>
            <a:off x="9006611" y="2103120"/>
            <a:ext cx="2499284" cy="0"/>
          </a:xfrm>
          <a:custGeom>
            <a:avLst/>
            <a:gdLst/>
            <a:ahLst/>
            <a:cxnLst/>
            <a:rect l="l" t="t" r="r" b="b"/>
            <a:pathLst>
              <a:path w="2499284" h="0">
                <a:moveTo>
                  <a:pt x="0" y="0"/>
                </a:moveTo>
                <a:lnTo>
                  <a:pt x="2499284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6611" y="2240280"/>
            <a:ext cx="24992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TEILPROZESS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611" y="2487168"/>
            <a:ext cx="24992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0312B"/>
                </a:solidFill>
                <a:latin typeface="DM Serif Display"/>
              </a:rPr>
              <a:t>Bindung &amp; Monitoring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611" y="2926080"/>
            <a:ext cx="24078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C6B66"/>
                </a:solidFill>
                <a:latin typeface="Inter"/>
              </a:rPr>
              <a:t>Monitor-Abo, monatlicher Re-Check und Feedback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611" y="3639312"/>
            <a:ext cx="2499283" cy="329184"/>
          </a:xfrm>
          <a:prstGeom prst="rect">
            <a:avLst/>
          </a:prstGeom>
          <a:solidFill>
            <a:srgbClr val="DDED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116339" y="3639312"/>
            <a:ext cx="231640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2E8B67"/>
                </a:solidFill>
                <a:latin typeface="DM Mono"/>
              </a:rPr>
              <a:t>Ohne Team: 4 von 4 Schritten</a:t>
            </a:r>
          </a:p>
        </p:txBody>
      </p:sp>
      <p:sp>
        <p:nvSpPr>
          <p:cNvPr id="35" name="Freeform 34"/>
          <p:cNvSpPr/>
          <p:nvPr/>
        </p:nvSpPr>
        <p:spPr>
          <a:xfrm>
            <a:off x="685800" y="4297680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5800" y="4526280"/>
            <a:ext cx="365760" cy="365760"/>
          </a:xfrm>
          <a:prstGeom prst="ellipse">
            <a:avLst/>
          </a:prstGeom>
          <a:solidFill>
            <a:srgbClr val="1031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325880" y="4526280"/>
            <a:ext cx="181348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0312B"/>
                </a:solidFill>
                <a:latin typeface="Inter"/>
              </a:rPr>
              <a:t>Ereignis (Start / Ende)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59403" y="4572000"/>
            <a:ext cx="502920" cy="292608"/>
          </a:xfrm>
          <a:prstGeom prst="rect">
            <a:avLst/>
          </a:prstGeom>
          <a:solidFill>
            <a:srgbClr val="ECE5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099483" y="4526280"/>
            <a:ext cx="181348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0312B"/>
                </a:solidFill>
                <a:latin typeface="Inter"/>
              </a:rPr>
              <a:t>Aktivität mit Kundenkontakt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33007" y="4572000"/>
            <a:ext cx="502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0312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873087" y="4526280"/>
            <a:ext cx="181348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0312B"/>
                </a:solidFill>
                <a:latin typeface="Inter"/>
              </a:rPr>
              <a:t>Interne Aktivität (Team)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06611" y="4572000"/>
            <a:ext cx="502920" cy="292608"/>
          </a:xfrm>
          <a:prstGeom prst="rect">
            <a:avLst/>
          </a:prstGeom>
          <a:solidFill>
            <a:srgbClr val="FFFFFF"/>
          </a:solidFill>
          <a:ln w="22225">
            <a:solidFill>
              <a:srgbClr val="2E8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646691" y="4526280"/>
            <a:ext cx="181348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0312B"/>
                </a:solidFill>
                <a:latin typeface="Inter"/>
              </a:rPr>
              <a:t>Automatisiert (KI-Agent)</a:t>
            </a:r>
          </a:p>
        </p:txBody>
      </p:sp>
      <p:sp>
        <p:nvSpPr>
          <p:cNvPr id="44" name="Diamond 43"/>
          <p:cNvSpPr/>
          <p:nvPr/>
        </p:nvSpPr>
        <p:spPr>
          <a:xfrm>
            <a:off x="685800" y="5120640"/>
            <a:ext cx="502920" cy="38404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0312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325880" y="5120640"/>
            <a:ext cx="181348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0312B"/>
                </a:solidFill>
                <a:latin typeface="Inter"/>
              </a:rPr>
              <a:t>Entscheidung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59403" y="5166360"/>
            <a:ext cx="502920" cy="292608"/>
          </a:xfrm>
          <a:prstGeom prst="rect">
            <a:avLst/>
          </a:prstGeom>
          <a:solidFill>
            <a:srgbClr val="DCE2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099483" y="5120640"/>
            <a:ext cx="181348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0312B"/>
                </a:solidFill>
                <a:latin typeface="Inter"/>
              </a:rPr>
              <a:t>DB = Datenbank, DK = Dokument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97015" y="5129784"/>
            <a:ext cx="365760" cy="365760"/>
          </a:xfrm>
          <a:prstGeom prst="rect">
            <a:avLst/>
          </a:prstGeom>
          <a:solidFill>
            <a:srgbClr val="FFFFFF"/>
          </a:solidFill>
          <a:ln w="25400">
            <a:solidFill>
              <a:srgbClr val="10312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873087" y="5120640"/>
            <a:ext cx="181348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0312B"/>
                </a:solidFill>
                <a:latin typeface="Inter"/>
              </a:rPr>
              <a:t>Übergang zum Teilprozess</a:t>
            </a:r>
          </a:p>
        </p:txBody>
      </p:sp>
      <p:sp>
        <p:nvSpPr>
          <p:cNvPr id="50" name="Oval 49"/>
          <p:cNvSpPr/>
          <p:nvPr/>
        </p:nvSpPr>
        <p:spPr>
          <a:xfrm>
            <a:off x="9143771" y="5193792"/>
            <a:ext cx="237744" cy="237744"/>
          </a:xfrm>
          <a:prstGeom prst="ellipse">
            <a:avLst/>
          </a:prstGeom>
          <a:solidFill>
            <a:srgbClr val="E1A23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9646691" y="5120640"/>
            <a:ext cx="181348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0312B"/>
                </a:solidFill>
                <a:latin typeface="Inter"/>
              </a:rPr>
              <a:t>Früher vom Team, jetzt KI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0312B"/>
                </a:solidFill>
                <a:latin typeface="DM Serif Display"/>
              </a:rPr>
              <a:t>hostwise</a:t>
            </a:r>
            <a:r>
              <a:rPr sz="1500" b="0">
                <a:solidFill>
                  <a:srgbClr val="E1A23E"/>
                </a:solidFill>
                <a:latin typeface="DM Serif Display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9319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TEILPROZESS 1 VON 4 · AKQUISE &amp; KAUF</a:t>
            </a:r>
          </a:p>
        </p:txBody>
      </p:sp>
      <p:sp>
        <p:nvSpPr>
          <p:cNvPr id="4" name="Freeform 3"/>
          <p:cNvSpPr/>
          <p:nvPr/>
        </p:nvSpPr>
        <p:spPr>
          <a:xfrm>
            <a:off x="685800" y="786384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1A23E"/>
                </a:solidFill>
                <a:latin typeface="DM Mono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3171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10312B"/>
                </a:solidFill>
                <a:latin typeface="DM Serif Display"/>
              </a:rPr>
              <a:t>Ein kostenloser Kurz-Check senkt die Hürde vor dem Kauf von 29 € oder 149 €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B66"/>
                </a:solidFill>
                <a:latin typeface="Inter"/>
              </a:rPr>
              <a:t>Checkout mit ausdrücklichem Verzicht auf das Widerrufsrecht (§ 356 Abs. 5 BGB). Anzeigen, Budget und Creative-Tests steuert der Vertriebs-Agent.</a:t>
            </a:r>
          </a:p>
        </p:txBody>
      </p:sp>
      <p:sp>
        <p:nvSpPr>
          <p:cNvPr id="8" name="Freeform 7"/>
          <p:cNvSpPr/>
          <p:nvPr/>
        </p:nvSpPr>
        <p:spPr>
          <a:xfrm>
            <a:off x="685800" y="6382512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HOSTWISE · ENTREPRENEURSHIP &amp; SERVICEENTWICKLUNG · HM WS 2026/27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7095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SEITE 11 / 14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195827"/>
            <a:ext cx="868680" cy="868680"/>
          </a:xfrm>
          <a:prstGeom prst="ellipse">
            <a:avLst/>
          </a:prstGeom>
          <a:solidFill>
            <a:srgbClr val="1031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" y="3195827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6F2EA"/>
                </a:solidFill>
                <a:latin typeface="Inter"/>
              </a:rPr>
              <a:t>Ad-Klick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83080" y="3246120"/>
            <a:ext cx="1298448" cy="768096"/>
          </a:xfrm>
          <a:prstGeom prst="rect">
            <a:avLst/>
          </a:prstGeom>
          <a:solidFill>
            <a:srgbClr val="ECE5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874519" y="3319272"/>
            <a:ext cx="1115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312B"/>
                </a:solidFill>
                <a:latin typeface="Inter"/>
              </a:rPr>
              <a:t>Kurz-Check ausfüllen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767327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C6B66"/>
                </a:solidFill>
                <a:latin typeface="DM Mono"/>
              </a:rPr>
              <a:t>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3246120"/>
            <a:ext cx="1298448" cy="768096"/>
          </a:xfrm>
          <a:prstGeom prst="rect">
            <a:avLst/>
          </a:prstGeom>
          <a:solidFill>
            <a:srgbClr val="FFFFFF"/>
          </a:solidFill>
          <a:ln w="22225">
            <a:solidFill>
              <a:srgbClr val="2E8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474720" y="3319272"/>
            <a:ext cx="1115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312B"/>
                </a:solidFill>
                <a:latin typeface="Inter"/>
              </a:rPr>
              <a:t>Ertragslücke anzeigen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767327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2E8B67"/>
                </a:solidFill>
                <a:latin typeface="DM Mono"/>
              </a:rPr>
              <a:t>KI</a:t>
            </a:r>
          </a:p>
        </p:txBody>
      </p:sp>
      <p:sp>
        <p:nvSpPr>
          <p:cNvPr id="19" name="Diamond 18"/>
          <p:cNvSpPr/>
          <p:nvPr/>
        </p:nvSpPr>
        <p:spPr>
          <a:xfrm>
            <a:off x="4937760" y="3150108"/>
            <a:ext cx="1188720" cy="96012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0312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074920" y="3150108"/>
            <a:ext cx="9144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0312B"/>
                </a:solidFill>
                <a:latin typeface="Inter"/>
              </a:rPr>
              <a:t>Analyse kaufen?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246120"/>
            <a:ext cx="1298448" cy="768096"/>
          </a:xfrm>
          <a:prstGeom prst="rect">
            <a:avLst/>
          </a:prstGeom>
          <a:solidFill>
            <a:srgbClr val="ECE5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675120" y="3319272"/>
            <a:ext cx="1115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312B"/>
                </a:solidFill>
                <a:latin typeface="Inter"/>
              </a:rPr>
              <a:t>Checkout abschließen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767327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C6B66"/>
                </a:solidFill>
                <a:latin typeface="DM Mono"/>
              </a:rPr>
              <a:t>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3246120"/>
            <a:ext cx="1298448" cy="768096"/>
          </a:xfrm>
          <a:prstGeom prst="rect">
            <a:avLst/>
          </a:prstGeom>
          <a:solidFill>
            <a:srgbClr val="FFFFFF"/>
          </a:solidFill>
          <a:ln w="22225">
            <a:solidFill>
              <a:srgbClr val="2E8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75319" y="3319272"/>
            <a:ext cx="1115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312B"/>
                </a:solidFill>
                <a:latin typeface="Inter"/>
              </a:rPr>
              <a:t>Kundenkonto anlegen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3767327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2E8B67"/>
                </a:solidFill>
                <a:latin typeface="DM Mono"/>
              </a:rPr>
              <a:t>KI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3264408"/>
            <a:ext cx="731520" cy="731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784080" y="326440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0">
                <a:solidFill>
                  <a:srgbClr val="10312B"/>
                </a:solidFill>
                <a:latin typeface="DM Serif Display"/>
              </a:rPr>
              <a:t>1</a:t>
            </a:r>
          </a:p>
        </p:txBody>
      </p:sp>
      <p:sp>
        <p:nvSpPr>
          <p:cNvPr id="29" name="Freeform 28"/>
          <p:cNvSpPr/>
          <p:nvPr/>
        </p:nvSpPr>
        <p:spPr>
          <a:xfrm>
            <a:off x="1554480" y="3630168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 h="0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3081528" y="3630168"/>
            <a:ext cx="301752" cy="0"/>
          </a:xfrm>
          <a:custGeom>
            <a:avLst/>
            <a:gdLst/>
            <a:ahLst/>
            <a:cxnLst/>
            <a:rect l="l" t="t" r="r" b="b"/>
            <a:pathLst>
              <a:path w="301752" h="0">
                <a:moveTo>
                  <a:pt x="0" y="0"/>
                </a:moveTo>
                <a:lnTo>
                  <a:pt x="301752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4681728" y="3630168"/>
            <a:ext cx="256032" cy="0"/>
          </a:xfrm>
          <a:custGeom>
            <a:avLst/>
            <a:gdLst/>
            <a:ahLst/>
            <a:cxnLst/>
            <a:rect l="l" t="t" r="r" b="b"/>
            <a:pathLst>
              <a:path w="256032" h="0">
                <a:moveTo>
                  <a:pt x="0" y="0"/>
                </a:moveTo>
                <a:lnTo>
                  <a:pt x="256032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6126480" y="3630168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 h="0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53912" y="3383279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312B"/>
                </a:solidFill>
                <a:latin typeface="Inter"/>
              </a:rPr>
              <a:t>ja</a:t>
            </a:r>
          </a:p>
        </p:txBody>
      </p:sp>
      <p:sp>
        <p:nvSpPr>
          <p:cNvPr id="34" name="Freeform 33"/>
          <p:cNvSpPr/>
          <p:nvPr/>
        </p:nvSpPr>
        <p:spPr>
          <a:xfrm>
            <a:off x="7882128" y="3630168"/>
            <a:ext cx="301751" cy="0"/>
          </a:xfrm>
          <a:custGeom>
            <a:avLst/>
            <a:gdLst/>
            <a:ahLst/>
            <a:cxnLst/>
            <a:rect l="l" t="t" r="r" b="b"/>
            <a:pathLst>
              <a:path w="301751" h="0">
                <a:moveTo>
                  <a:pt x="0" y="0"/>
                </a:moveTo>
                <a:lnTo>
                  <a:pt x="301751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9482328" y="3630168"/>
            <a:ext cx="301752" cy="0"/>
          </a:xfrm>
          <a:custGeom>
            <a:avLst/>
            <a:gdLst/>
            <a:ahLst/>
            <a:cxnLst/>
            <a:rect l="l" t="t" r="r" b="b"/>
            <a:pathLst>
              <a:path w="301752" h="0">
                <a:moveTo>
                  <a:pt x="0" y="0"/>
                </a:moveTo>
                <a:lnTo>
                  <a:pt x="301752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83080" y="2194560"/>
            <a:ext cx="1298448" cy="530352"/>
          </a:xfrm>
          <a:prstGeom prst="rect">
            <a:avLst/>
          </a:prstGeom>
          <a:solidFill>
            <a:srgbClr val="DCE2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874519" y="2249424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312B"/>
                </a:solidFill>
                <a:latin typeface="DM Mono"/>
              </a:rPr>
              <a:t>DB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74519" y="2450591"/>
            <a:ext cx="1115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0312B"/>
                </a:solidFill>
                <a:latin typeface="Inter"/>
              </a:rPr>
              <a:t>Lead-Daten</a:t>
            </a:r>
          </a:p>
        </p:txBody>
      </p:sp>
      <p:sp>
        <p:nvSpPr>
          <p:cNvPr id="39" name="Freeform 38"/>
          <p:cNvSpPr/>
          <p:nvPr/>
        </p:nvSpPr>
        <p:spPr>
          <a:xfrm>
            <a:off x="2432304" y="2724912"/>
            <a:ext cx="0" cy="521208"/>
          </a:xfrm>
          <a:custGeom>
            <a:avLst/>
            <a:gdLst/>
            <a:ahLst/>
            <a:cxnLst/>
            <a:rect l="l" t="t" r="r" b="b"/>
            <a:pathLst>
              <a:path w="0" h="521208">
                <a:moveTo>
                  <a:pt x="0" y="521208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83280" y="2194560"/>
            <a:ext cx="1298448" cy="530352"/>
          </a:xfrm>
          <a:prstGeom prst="rect">
            <a:avLst/>
          </a:prstGeom>
          <a:solidFill>
            <a:srgbClr val="DCE2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474720" y="2249424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312B"/>
                </a:solidFill>
                <a:latin typeface="DM Mono"/>
              </a:rPr>
              <a:t>DK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2450591"/>
            <a:ext cx="1115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0312B"/>
                </a:solidFill>
                <a:latin typeface="Inter"/>
              </a:rPr>
              <a:t>Kurz-Score</a:t>
            </a:r>
          </a:p>
        </p:txBody>
      </p:sp>
      <p:sp>
        <p:nvSpPr>
          <p:cNvPr id="43" name="Freeform 42"/>
          <p:cNvSpPr/>
          <p:nvPr/>
        </p:nvSpPr>
        <p:spPr>
          <a:xfrm>
            <a:off x="4032504" y="2724912"/>
            <a:ext cx="0" cy="521208"/>
          </a:xfrm>
          <a:custGeom>
            <a:avLst/>
            <a:gdLst/>
            <a:ahLst/>
            <a:cxnLst/>
            <a:rect l="l" t="t" r="r" b="b"/>
            <a:pathLst>
              <a:path w="0" h="521208">
                <a:moveTo>
                  <a:pt x="0" y="521208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0" y="2194560"/>
            <a:ext cx="1298448" cy="530352"/>
          </a:xfrm>
          <a:prstGeom prst="rect">
            <a:avLst/>
          </a:prstGeom>
          <a:solidFill>
            <a:srgbClr val="DCE2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675120" y="2249424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312B"/>
                </a:solidFill>
                <a:latin typeface="DM Mono"/>
              </a:rPr>
              <a:t>DK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2450591"/>
            <a:ext cx="1115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0312B"/>
                </a:solidFill>
                <a:latin typeface="Inter"/>
              </a:rPr>
              <a:t>Rechnung</a:t>
            </a:r>
          </a:p>
        </p:txBody>
      </p:sp>
      <p:sp>
        <p:nvSpPr>
          <p:cNvPr id="47" name="Freeform 46"/>
          <p:cNvSpPr/>
          <p:nvPr/>
        </p:nvSpPr>
        <p:spPr>
          <a:xfrm>
            <a:off x="7232904" y="2724912"/>
            <a:ext cx="0" cy="521208"/>
          </a:xfrm>
          <a:custGeom>
            <a:avLst/>
            <a:gdLst/>
            <a:ahLst/>
            <a:cxnLst/>
            <a:rect l="l" t="t" r="r" b="b"/>
            <a:pathLst>
              <a:path w="0" h="521208">
                <a:moveTo>
                  <a:pt x="0" y="521208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83879" y="2194560"/>
            <a:ext cx="1298448" cy="530352"/>
          </a:xfrm>
          <a:prstGeom prst="rect">
            <a:avLst/>
          </a:prstGeom>
          <a:solidFill>
            <a:srgbClr val="DCE2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275319" y="2249424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312B"/>
                </a:solidFill>
                <a:latin typeface="DM Mono"/>
              </a:rPr>
              <a:t>DB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19" y="2450591"/>
            <a:ext cx="1115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0312B"/>
                </a:solidFill>
                <a:latin typeface="Inter"/>
              </a:rPr>
              <a:t>Kundendaten</a:t>
            </a:r>
          </a:p>
        </p:txBody>
      </p:sp>
      <p:sp>
        <p:nvSpPr>
          <p:cNvPr id="51" name="Freeform 50"/>
          <p:cNvSpPr/>
          <p:nvPr/>
        </p:nvSpPr>
        <p:spPr>
          <a:xfrm>
            <a:off x="8833104" y="2724912"/>
            <a:ext cx="0" cy="521208"/>
          </a:xfrm>
          <a:custGeom>
            <a:avLst/>
            <a:gdLst/>
            <a:ahLst/>
            <a:cxnLst/>
            <a:rect l="l" t="t" r="r" b="b"/>
            <a:pathLst>
              <a:path w="0" h="521208">
                <a:moveTo>
                  <a:pt x="0" y="521208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82896" y="4572000"/>
            <a:ext cx="1298448" cy="768096"/>
          </a:xfrm>
          <a:prstGeom prst="rect">
            <a:avLst/>
          </a:prstGeom>
          <a:solidFill>
            <a:srgbClr val="FFFFFF"/>
          </a:solidFill>
          <a:ln w="22225">
            <a:solidFill>
              <a:srgbClr val="2E8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974336" y="4645152"/>
            <a:ext cx="1115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312B"/>
                </a:solidFill>
                <a:latin typeface="Inter"/>
              </a:rPr>
              <a:t>Erinnerung per Mail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74336" y="5093208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2E8B67"/>
                </a:solidFill>
                <a:latin typeface="DM Mono"/>
              </a:rPr>
              <a:t>KI · Tag 3 und 14</a:t>
            </a:r>
          </a:p>
        </p:txBody>
      </p:sp>
      <p:sp>
        <p:nvSpPr>
          <p:cNvPr id="55" name="Oval 54"/>
          <p:cNvSpPr/>
          <p:nvPr/>
        </p:nvSpPr>
        <p:spPr>
          <a:xfrm>
            <a:off x="6071616" y="4462272"/>
            <a:ext cx="219456" cy="219456"/>
          </a:xfrm>
          <a:prstGeom prst="ellipse">
            <a:avLst/>
          </a:prstGeom>
          <a:solidFill>
            <a:srgbClr val="E1A23E"/>
          </a:solidFill>
          <a:ln w="19050">
            <a:solidFill>
              <a:srgbClr val="F6F2E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6" name="Freeform 55"/>
          <p:cNvSpPr/>
          <p:nvPr/>
        </p:nvSpPr>
        <p:spPr>
          <a:xfrm>
            <a:off x="5532120" y="4110228"/>
            <a:ext cx="0" cy="461772"/>
          </a:xfrm>
          <a:custGeom>
            <a:avLst/>
            <a:gdLst/>
            <a:ahLst/>
            <a:cxnLst/>
            <a:rect l="l" t="t" r="r" b="b"/>
            <a:pathLst>
              <a:path w="0" h="461772">
                <a:moveTo>
                  <a:pt x="0" y="0"/>
                </a:moveTo>
                <a:lnTo>
                  <a:pt x="0" y="461772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96128" y="42519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312B"/>
                </a:solidFill>
                <a:latin typeface="Inter"/>
              </a:rPr>
              <a:t>nein</a:t>
            </a:r>
          </a:p>
        </p:txBody>
      </p:sp>
      <p:sp>
        <p:nvSpPr>
          <p:cNvPr id="58" name="Freeform 57"/>
          <p:cNvSpPr/>
          <p:nvPr/>
        </p:nvSpPr>
        <p:spPr>
          <a:xfrm>
            <a:off x="4032504" y="4014215"/>
            <a:ext cx="850392" cy="941833"/>
          </a:xfrm>
          <a:custGeom>
            <a:avLst/>
            <a:gdLst/>
            <a:ahLst/>
            <a:cxnLst/>
            <a:rect l="l" t="t" r="r" b="b"/>
            <a:pathLst>
              <a:path w="850392" h="941833">
                <a:moveTo>
                  <a:pt x="850392" y="941833"/>
                </a:moveTo>
                <a:lnTo>
                  <a:pt x="0" y="941833"/>
                </a:lnTo>
                <a:lnTo>
                  <a:pt x="0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568756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312B"/>
                </a:solidFill>
                <a:latin typeface="Inter"/>
              </a:rPr>
              <a:t>K</a:t>
            </a:r>
            <a:r>
              <a:rPr sz="900" b="0">
                <a:solidFill>
                  <a:srgbClr val="5C6B66"/>
                </a:solidFill>
                <a:latin typeface="Inter"/>
              </a:rPr>
              <a:t> = Vermieter     </a:t>
            </a:r>
            <a:r>
              <a:rPr sz="900" b="1">
                <a:solidFill>
                  <a:srgbClr val="2E8B67"/>
                </a:solidFill>
                <a:latin typeface="Inter"/>
              </a:rPr>
              <a:t>KI</a:t>
            </a:r>
            <a:r>
              <a:rPr sz="900" b="0">
                <a:solidFill>
                  <a:srgbClr val="5C6B66"/>
                </a:solidFill>
                <a:latin typeface="Inter"/>
              </a:rPr>
              <a:t> = automatisiert     </a:t>
            </a:r>
            <a:r>
              <a:rPr sz="900" b="1">
                <a:solidFill>
                  <a:srgbClr val="10312B"/>
                </a:solidFill>
                <a:latin typeface="Inter"/>
              </a:rPr>
              <a:t>HW</a:t>
            </a:r>
            <a:r>
              <a:rPr sz="900" b="0">
                <a:solidFill>
                  <a:srgbClr val="5C6B66"/>
                </a:solidFill>
                <a:latin typeface="Inter"/>
              </a:rPr>
              <a:t> = hostwise-Team</a:t>
            </a:r>
          </a:p>
        </p:txBody>
      </p:sp>
      <p:sp>
        <p:nvSpPr>
          <p:cNvPr id="60" name="Oval 59"/>
          <p:cNvSpPr/>
          <p:nvPr/>
        </p:nvSpPr>
        <p:spPr>
          <a:xfrm>
            <a:off x="4846320" y="5710428"/>
            <a:ext cx="155448" cy="155448"/>
          </a:xfrm>
          <a:prstGeom prst="ellipse">
            <a:avLst/>
          </a:prstGeom>
          <a:solidFill>
            <a:srgbClr val="E1A23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5074920" y="568756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B66"/>
                </a:solidFill>
                <a:latin typeface="Inter"/>
              </a:rPr>
              <a:t>früher vom Team erledigt, jetzt automatisiert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0312B"/>
                </a:solidFill>
                <a:latin typeface="DM Serif Display"/>
              </a:rPr>
              <a:t>hostwise</a:t>
            </a:r>
            <a:r>
              <a:rPr sz="1500" b="0">
                <a:solidFill>
                  <a:srgbClr val="E1A23E"/>
                </a:solidFill>
                <a:latin typeface="DM Serif Display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9319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TEILPROZESS 2 VON 4 · ERFASSUNG &amp; ANALYSE</a:t>
            </a:r>
          </a:p>
        </p:txBody>
      </p:sp>
      <p:sp>
        <p:nvSpPr>
          <p:cNvPr id="4" name="Freeform 3"/>
          <p:cNvSpPr/>
          <p:nvPr/>
        </p:nvSpPr>
        <p:spPr>
          <a:xfrm>
            <a:off x="685800" y="786384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1A23E"/>
                </a:solidFill>
                <a:latin typeface="DM Mono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3171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10312B"/>
                </a:solidFill>
                <a:latin typeface="DM Serif Display"/>
              </a:rPr>
              <a:t>Plausibilitätsprüfung und echte Marktdaten machen die Ertragslücke glaubwürdig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B66"/>
                </a:solidFill>
                <a:latin typeface="Inter"/>
              </a:rPr>
              <a:t>Der iCal-Export liefert die echte Auslastung. Marktdaten: Vergleichsobjekte der Region, gesammelt vom Scraping-Agenten aus legaler Quelle.</a:t>
            </a:r>
          </a:p>
        </p:txBody>
      </p:sp>
      <p:sp>
        <p:nvSpPr>
          <p:cNvPr id="8" name="Freeform 7"/>
          <p:cNvSpPr/>
          <p:nvPr/>
        </p:nvSpPr>
        <p:spPr>
          <a:xfrm>
            <a:off x="685800" y="6382512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HOSTWISE · ENTREPRENEURSHIP &amp; SERVICEENTWICKLUNG · HM WS 2026/27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7095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SEITE 12 / 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264408"/>
            <a:ext cx="731520" cy="731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" y="326440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0">
                <a:solidFill>
                  <a:srgbClr val="10312B"/>
                </a:solidFill>
                <a:latin typeface="DM Serif Display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3246120"/>
            <a:ext cx="1298448" cy="768096"/>
          </a:xfrm>
          <a:prstGeom prst="rect">
            <a:avLst/>
          </a:prstGeom>
          <a:solidFill>
            <a:srgbClr val="ECE5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828800" y="3319272"/>
            <a:ext cx="1115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312B"/>
                </a:solidFill>
                <a:latin typeface="Inter"/>
              </a:rPr>
              <a:t>Objektdaten eingeben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67327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C6B66"/>
                </a:solidFill>
                <a:latin typeface="DM Mono"/>
              </a:rPr>
              <a:t>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3246120"/>
            <a:ext cx="1298448" cy="768096"/>
          </a:xfrm>
          <a:prstGeom prst="rect">
            <a:avLst/>
          </a:prstGeom>
          <a:solidFill>
            <a:srgbClr val="FFFFFF"/>
          </a:solidFill>
          <a:ln w="22225">
            <a:solidFill>
              <a:srgbClr val="2E8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429000" y="3319272"/>
            <a:ext cx="1115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312B"/>
                </a:solidFill>
                <a:latin typeface="Inter"/>
              </a:rPr>
              <a:t>Daten prüfen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767327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2E8B67"/>
                </a:solidFill>
                <a:latin typeface="DM Mono"/>
              </a:rPr>
              <a:t>KI</a:t>
            </a:r>
          </a:p>
        </p:txBody>
      </p:sp>
      <p:sp>
        <p:nvSpPr>
          <p:cNvPr id="19" name="Diamond 18"/>
          <p:cNvSpPr/>
          <p:nvPr/>
        </p:nvSpPr>
        <p:spPr>
          <a:xfrm>
            <a:off x="4892040" y="3150108"/>
            <a:ext cx="1188720" cy="96012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0312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029200" y="3150108"/>
            <a:ext cx="9144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0312B"/>
                </a:solidFill>
                <a:latin typeface="Inter"/>
              </a:rPr>
              <a:t>Daten plausibel?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3246120"/>
            <a:ext cx="1298448" cy="768096"/>
          </a:xfrm>
          <a:prstGeom prst="rect">
            <a:avLst/>
          </a:prstGeom>
          <a:solidFill>
            <a:srgbClr val="FFFFFF"/>
          </a:solidFill>
          <a:ln w="22225">
            <a:solidFill>
              <a:srgbClr val="2E8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629400" y="3319272"/>
            <a:ext cx="1115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312B"/>
                </a:solidFill>
                <a:latin typeface="Inter"/>
              </a:rPr>
              <a:t>Markt vergleichen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767327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2E8B67"/>
                </a:solidFill>
                <a:latin typeface="DM Mono"/>
              </a:rPr>
              <a:t>KI</a:t>
            </a:r>
          </a:p>
        </p:txBody>
      </p:sp>
      <p:sp>
        <p:nvSpPr>
          <p:cNvPr id="24" name="Oval 23"/>
          <p:cNvSpPr/>
          <p:nvPr/>
        </p:nvSpPr>
        <p:spPr>
          <a:xfrm>
            <a:off x="7726680" y="3136391"/>
            <a:ext cx="219456" cy="219456"/>
          </a:xfrm>
          <a:prstGeom prst="ellipse">
            <a:avLst/>
          </a:prstGeom>
          <a:solidFill>
            <a:srgbClr val="E1A23E"/>
          </a:solidFill>
          <a:ln w="19050">
            <a:solidFill>
              <a:srgbClr val="F6F2E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138160" y="3246120"/>
            <a:ext cx="1298448" cy="768096"/>
          </a:xfrm>
          <a:prstGeom prst="rect">
            <a:avLst/>
          </a:prstGeom>
          <a:solidFill>
            <a:srgbClr val="FFFFFF"/>
          </a:solidFill>
          <a:ln w="22225">
            <a:solidFill>
              <a:srgbClr val="2E8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29600" y="3319272"/>
            <a:ext cx="1115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312B"/>
                </a:solidFill>
                <a:latin typeface="Inter"/>
              </a:rPr>
              <a:t>Report erstellen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767327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2E8B67"/>
                </a:solidFill>
                <a:latin typeface="DM Mono"/>
              </a:rPr>
              <a:t>KI</a:t>
            </a:r>
          </a:p>
        </p:txBody>
      </p:sp>
      <p:sp>
        <p:nvSpPr>
          <p:cNvPr id="28" name="Oval 27"/>
          <p:cNvSpPr/>
          <p:nvPr/>
        </p:nvSpPr>
        <p:spPr>
          <a:xfrm>
            <a:off x="9326880" y="3136391"/>
            <a:ext cx="219456" cy="219456"/>
          </a:xfrm>
          <a:prstGeom prst="ellipse">
            <a:avLst/>
          </a:prstGeom>
          <a:solidFill>
            <a:srgbClr val="E1A23E"/>
          </a:solidFill>
          <a:ln w="19050">
            <a:solidFill>
              <a:srgbClr val="F6F2E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9784080" y="3264408"/>
            <a:ext cx="731520" cy="731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784080" y="326440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0">
                <a:solidFill>
                  <a:srgbClr val="10312B"/>
                </a:solidFill>
                <a:latin typeface="DM Serif Display"/>
              </a:rPr>
              <a:t>2</a:t>
            </a:r>
          </a:p>
        </p:txBody>
      </p:sp>
      <p:sp>
        <p:nvSpPr>
          <p:cNvPr id="31" name="Freeform 30"/>
          <p:cNvSpPr/>
          <p:nvPr/>
        </p:nvSpPr>
        <p:spPr>
          <a:xfrm>
            <a:off x="1417320" y="3630168"/>
            <a:ext cx="320040" cy="0"/>
          </a:xfrm>
          <a:custGeom>
            <a:avLst/>
            <a:gdLst/>
            <a:ahLst/>
            <a:cxnLst/>
            <a:rect l="l" t="t" r="r" b="b"/>
            <a:pathLst>
              <a:path w="320040" h="0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3035808" y="3630168"/>
            <a:ext cx="301752" cy="0"/>
          </a:xfrm>
          <a:custGeom>
            <a:avLst/>
            <a:gdLst/>
            <a:ahLst/>
            <a:cxnLst/>
            <a:rect l="l" t="t" r="r" b="b"/>
            <a:pathLst>
              <a:path w="301752" h="0">
                <a:moveTo>
                  <a:pt x="0" y="0"/>
                </a:moveTo>
                <a:lnTo>
                  <a:pt x="301752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4636008" y="3630168"/>
            <a:ext cx="256032" cy="0"/>
          </a:xfrm>
          <a:custGeom>
            <a:avLst/>
            <a:gdLst/>
            <a:ahLst/>
            <a:cxnLst/>
            <a:rect l="l" t="t" r="r" b="b"/>
            <a:pathLst>
              <a:path w="256032" h="0">
                <a:moveTo>
                  <a:pt x="0" y="0"/>
                </a:moveTo>
                <a:lnTo>
                  <a:pt x="256032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6080759" y="3630168"/>
            <a:ext cx="457201" cy="0"/>
          </a:xfrm>
          <a:custGeom>
            <a:avLst/>
            <a:gdLst/>
            <a:ahLst/>
            <a:cxnLst/>
            <a:rect l="l" t="t" r="r" b="b"/>
            <a:pathLst>
              <a:path w="457201" h="0">
                <a:moveTo>
                  <a:pt x="0" y="0"/>
                </a:moveTo>
                <a:lnTo>
                  <a:pt x="457201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08192" y="3383279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312B"/>
                </a:solidFill>
                <a:latin typeface="Inter"/>
              </a:rPr>
              <a:t>ja</a:t>
            </a:r>
          </a:p>
        </p:txBody>
      </p:sp>
      <p:sp>
        <p:nvSpPr>
          <p:cNvPr id="36" name="Freeform 35"/>
          <p:cNvSpPr/>
          <p:nvPr/>
        </p:nvSpPr>
        <p:spPr>
          <a:xfrm>
            <a:off x="7836408" y="3630168"/>
            <a:ext cx="301752" cy="0"/>
          </a:xfrm>
          <a:custGeom>
            <a:avLst/>
            <a:gdLst/>
            <a:ahLst/>
            <a:cxnLst/>
            <a:rect l="l" t="t" r="r" b="b"/>
            <a:pathLst>
              <a:path w="301752" h="0">
                <a:moveTo>
                  <a:pt x="0" y="0"/>
                </a:moveTo>
                <a:lnTo>
                  <a:pt x="301752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9436608" y="3630168"/>
            <a:ext cx="347472" cy="0"/>
          </a:xfrm>
          <a:custGeom>
            <a:avLst/>
            <a:gdLst/>
            <a:ahLst/>
            <a:cxnLst/>
            <a:rect l="l" t="t" r="r" b="b"/>
            <a:pathLst>
              <a:path w="347472" h="0">
                <a:moveTo>
                  <a:pt x="0" y="0"/>
                </a:moveTo>
                <a:lnTo>
                  <a:pt x="347472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737360" y="2194560"/>
            <a:ext cx="1298448" cy="530352"/>
          </a:xfrm>
          <a:prstGeom prst="rect">
            <a:avLst/>
          </a:prstGeom>
          <a:solidFill>
            <a:srgbClr val="DCE2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828800" y="2249424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312B"/>
                </a:solidFill>
                <a:latin typeface="DM Mono"/>
              </a:rPr>
              <a:t>DB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2450591"/>
            <a:ext cx="1115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0312B"/>
                </a:solidFill>
                <a:latin typeface="Inter"/>
              </a:rPr>
              <a:t>Objektdaten, iCal</a:t>
            </a:r>
          </a:p>
        </p:txBody>
      </p:sp>
      <p:sp>
        <p:nvSpPr>
          <p:cNvPr id="41" name="Freeform 40"/>
          <p:cNvSpPr/>
          <p:nvPr/>
        </p:nvSpPr>
        <p:spPr>
          <a:xfrm>
            <a:off x="2386584" y="2724912"/>
            <a:ext cx="0" cy="521208"/>
          </a:xfrm>
          <a:custGeom>
            <a:avLst/>
            <a:gdLst/>
            <a:ahLst/>
            <a:cxnLst/>
            <a:rect l="l" t="t" r="r" b="b"/>
            <a:pathLst>
              <a:path w="0" h="521208">
                <a:moveTo>
                  <a:pt x="0" y="521208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37960" y="2194560"/>
            <a:ext cx="1298448" cy="530352"/>
          </a:xfrm>
          <a:prstGeom prst="rect">
            <a:avLst/>
          </a:prstGeom>
          <a:solidFill>
            <a:srgbClr val="DCE2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629400" y="2249424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312B"/>
                </a:solidFill>
                <a:latin typeface="DM Mono"/>
              </a:rPr>
              <a:t>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2450591"/>
            <a:ext cx="1115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0312B"/>
                </a:solidFill>
                <a:latin typeface="Inter"/>
              </a:rPr>
              <a:t>Marktdaten</a:t>
            </a:r>
          </a:p>
        </p:txBody>
      </p:sp>
      <p:sp>
        <p:nvSpPr>
          <p:cNvPr id="45" name="Freeform 44"/>
          <p:cNvSpPr/>
          <p:nvPr/>
        </p:nvSpPr>
        <p:spPr>
          <a:xfrm>
            <a:off x="7187184" y="2724912"/>
            <a:ext cx="0" cy="521208"/>
          </a:xfrm>
          <a:custGeom>
            <a:avLst/>
            <a:gdLst/>
            <a:ahLst/>
            <a:cxnLst/>
            <a:rect l="l" t="t" r="r" b="b"/>
            <a:pathLst>
              <a:path w="0" h="521208">
                <a:moveTo>
                  <a:pt x="0" y="0"/>
                </a:moveTo>
                <a:lnTo>
                  <a:pt x="0" y="521208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38160" y="2194560"/>
            <a:ext cx="1298448" cy="530352"/>
          </a:xfrm>
          <a:prstGeom prst="rect">
            <a:avLst/>
          </a:prstGeom>
          <a:solidFill>
            <a:srgbClr val="DCE2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229600" y="2249424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312B"/>
                </a:solidFill>
                <a:latin typeface="DM Mono"/>
              </a:rPr>
              <a:t>DK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2450591"/>
            <a:ext cx="1115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0312B"/>
                </a:solidFill>
                <a:latin typeface="Inter"/>
              </a:rPr>
              <a:t>Report-Entwurf</a:t>
            </a:r>
          </a:p>
        </p:txBody>
      </p:sp>
      <p:sp>
        <p:nvSpPr>
          <p:cNvPr id="49" name="Freeform 48"/>
          <p:cNvSpPr/>
          <p:nvPr/>
        </p:nvSpPr>
        <p:spPr>
          <a:xfrm>
            <a:off x="8787384" y="2724912"/>
            <a:ext cx="0" cy="521208"/>
          </a:xfrm>
          <a:custGeom>
            <a:avLst/>
            <a:gdLst/>
            <a:ahLst/>
            <a:cxnLst/>
            <a:rect l="l" t="t" r="r" b="b"/>
            <a:pathLst>
              <a:path w="0" h="521208">
                <a:moveTo>
                  <a:pt x="0" y="521208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37176" y="4572000"/>
            <a:ext cx="1298448" cy="768096"/>
          </a:xfrm>
          <a:prstGeom prst="rect">
            <a:avLst/>
          </a:prstGeom>
          <a:solidFill>
            <a:srgbClr val="FFFFFF"/>
          </a:solidFill>
          <a:ln w="22225">
            <a:solidFill>
              <a:srgbClr val="2E8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4928616" y="4645152"/>
            <a:ext cx="1115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312B"/>
                </a:solidFill>
                <a:latin typeface="Inter"/>
              </a:rPr>
              <a:t>Rückfrage an Vermieter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28616" y="5093208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2E8B67"/>
                </a:solidFill>
                <a:latin typeface="DM Mono"/>
              </a:rPr>
              <a:t>KI | K</a:t>
            </a:r>
          </a:p>
        </p:txBody>
      </p:sp>
      <p:sp>
        <p:nvSpPr>
          <p:cNvPr id="53" name="Oval 52"/>
          <p:cNvSpPr/>
          <p:nvPr/>
        </p:nvSpPr>
        <p:spPr>
          <a:xfrm>
            <a:off x="6025896" y="4462272"/>
            <a:ext cx="219456" cy="219456"/>
          </a:xfrm>
          <a:prstGeom prst="ellipse">
            <a:avLst/>
          </a:prstGeom>
          <a:solidFill>
            <a:srgbClr val="E1A23E"/>
          </a:solidFill>
          <a:ln w="19050">
            <a:solidFill>
              <a:srgbClr val="F6F2E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4" name="Freeform 53"/>
          <p:cNvSpPr/>
          <p:nvPr/>
        </p:nvSpPr>
        <p:spPr>
          <a:xfrm>
            <a:off x="5486400" y="4110228"/>
            <a:ext cx="0" cy="461772"/>
          </a:xfrm>
          <a:custGeom>
            <a:avLst/>
            <a:gdLst/>
            <a:ahLst/>
            <a:cxnLst/>
            <a:rect l="l" t="t" r="r" b="b"/>
            <a:pathLst>
              <a:path w="0" h="461772">
                <a:moveTo>
                  <a:pt x="0" y="0"/>
                </a:moveTo>
                <a:lnTo>
                  <a:pt x="0" y="461772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50407" y="42519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312B"/>
                </a:solidFill>
                <a:latin typeface="Inter"/>
              </a:rPr>
              <a:t>nein</a:t>
            </a:r>
          </a:p>
        </p:txBody>
      </p:sp>
      <p:sp>
        <p:nvSpPr>
          <p:cNvPr id="56" name="Freeform 55"/>
          <p:cNvSpPr/>
          <p:nvPr/>
        </p:nvSpPr>
        <p:spPr>
          <a:xfrm>
            <a:off x="2386584" y="4014215"/>
            <a:ext cx="2450592" cy="941833"/>
          </a:xfrm>
          <a:custGeom>
            <a:avLst/>
            <a:gdLst/>
            <a:ahLst/>
            <a:cxnLst/>
            <a:rect l="l" t="t" r="r" b="b"/>
            <a:pathLst>
              <a:path w="2450592" h="941833">
                <a:moveTo>
                  <a:pt x="2450592" y="941833"/>
                </a:moveTo>
                <a:lnTo>
                  <a:pt x="0" y="941833"/>
                </a:lnTo>
                <a:lnTo>
                  <a:pt x="0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568756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312B"/>
                </a:solidFill>
                <a:latin typeface="Inter"/>
              </a:rPr>
              <a:t>K</a:t>
            </a:r>
            <a:r>
              <a:rPr sz="900" b="0">
                <a:solidFill>
                  <a:srgbClr val="5C6B66"/>
                </a:solidFill>
                <a:latin typeface="Inter"/>
              </a:rPr>
              <a:t> = Vermieter     </a:t>
            </a:r>
            <a:r>
              <a:rPr sz="900" b="1">
                <a:solidFill>
                  <a:srgbClr val="2E8B67"/>
                </a:solidFill>
                <a:latin typeface="Inter"/>
              </a:rPr>
              <a:t>KI</a:t>
            </a:r>
            <a:r>
              <a:rPr sz="900" b="0">
                <a:solidFill>
                  <a:srgbClr val="5C6B66"/>
                </a:solidFill>
                <a:latin typeface="Inter"/>
              </a:rPr>
              <a:t> = automatisiert     </a:t>
            </a:r>
            <a:r>
              <a:rPr sz="900" b="1">
                <a:solidFill>
                  <a:srgbClr val="10312B"/>
                </a:solidFill>
                <a:latin typeface="Inter"/>
              </a:rPr>
              <a:t>HW</a:t>
            </a:r>
            <a:r>
              <a:rPr sz="900" b="0">
                <a:solidFill>
                  <a:srgbClr val="5C6B66"/>
                </a:solidFill>
                <a:latin typeface="Inter"/>
              </a:rPr>
              <a:t> = hostwise-Team</a:t>
            </a:r>
          </a:p>
        </p:txBody>
      </p:sp>
      <p:sp>
        <p:nvSpPr>
          <p:cNvPr id="58" name="Oval 57"/>
          <p:cNvSpPr/>
          <p:nvPr/>
        </p:nvSpPr>
        <p:spPr>
          <a:xfrm>
            <a:off x="4846320" y="5710428"/>
            <a:ext cx="155448" cy="155448"/>
          </a:xfrm>
          <a:prstGeom prst="ellipse">
            <a:avLst/>
          </a:prstGeom>
          <a:solidFill>
            <a:srgbClr val="E1A23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5074920" y="568756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B66"/>
                </a:solidFill>
                <a:latin typeface="Inter"/>
              </a:rPr>
              <a:t>früher vom Team erledigt, jetzt automatisiert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0312B"/>
                </a:solidFill>
                <a:latin typeface="DM Serif Display"/>
              </a:rPr>
              <a:t>hostwise</a:t>
            </a:r>
            <a:r>
              <a:rPr sz="1500" b="0">
                <a:solidFill>
                  <a:srgbClr val="E1A23E"/>
                </a:solidFill>
                <a:latin typeface="DM Serif Display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9319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TEILPROZESS 3 VON 4 · PRÜFUNG &amp; ZUSTELLUNG</a:t>
            </a:r>
          </a:p>
        </p:txBody>
      </p:sp>
      <p:sp>
        <p:nvSpPr>
          <p:cNvPr id="4" name="Freeform 3"/>
          <p:cNvSpPr/>
          <p:nvPr/>
        </p:nvSpPr>
        <p:spPr>
          <a:xfrm>
            <a:off x="685800" y="786384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1A23E"/>
                </a:solidFill>
                <a:latin typeface="DM Mono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3171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10312B"/>
                </a:solidFill>
                <a:latin typeface="DM Serif Display"/>
              </a:rPr>
              <a:t>Die KI prüft jeden Report – das Team nur Auffälligkeiten und Stichproben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B66"/>
                </a:solidFill>
                <a:latin typeface="Inter"/>
              </a:rPr>
              <a:t>In der Beta prüft das Team jeden Report vor dem Versand. Rückfragen per Chat, optional 15-Minuten-Call – deckt Einfühlungsvermögen und individuelle Anpassung ab.</a:t>
            </a:r>
          </a:p>
        </p:txBody>
      </p:sp>
      <p:sp>
        <p:nvSpPr>
          <p:cNvPr id="8" name="Freeform 7"/>
          <p:cNvSpPr/>
          <p:nvPr/>
        </p:nvSpPr>
        <p:spPr>
          <a:xfrm>
            <a:off x="685800" y="6382512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HOSTWISE · ENTREPRENEURSHIP &amp; SERVICEENTWICKLUNG · HM WS 2026/27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7095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SEITE 13 / 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264408"/>
            <a:ext cx="731520" cy="731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" y="326440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0">
                <a:solidFill>
                  <a:srgbClr val="10312B"/>
                </a:solidFill>
                <a:latin typeface="DM Serif Display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3246120"/>
            <a:ext cx="1298448" cy="768096"/>
          </a:xfrm>
          <a:prstGeom prst="rect">
            <a:avLst/>
          </a:prstGeom>
          <a:solidFill>
            <a:srgbClr val="FFFFFF"/>
          </a:solidFill>
          <a:ln w="22225">
            <a:solidFill>
              <a:srgbClr val="2E8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828800" y="3319272"/>
            <a:ext cx="1115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312B"/>
                </a:solidFill>
                <a:latin typeface="Inter"/>
              </a:rPr>
              <a:t>Qualität prüfen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67327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2E8B67"/>
                </a:solidFill>
                <a:latin typeface="DM Mono"/>
              </a:rPr>
              <a:t>KI</a:t>
            </a:r>
          </a:p>
        </p:txBody>
      </p:sp>
      <p:sp>
        <p:nvSpPr>
          <p:cNvPr id="16" name="Oval 15"/>
          <p:cNvSpPr/>
          <p:nvPr/>
        </p:nvSpPr>
        <p:spPr>
          <a:xfrm>
            <a:off x="2926079" y="3136391"/>
            <a:ext cx="219456" cy="219456"/>
          </a:xfrm>
          <a:prstGeom prst="ellipse">
            <a:avLst/>
          </a:prstGeom>
          <a:solidFill>
            <a:srgbClr val="E1A23E"/>
          </a:solidFill>
          <a:ln w="19050">
            <a:solidFill>
              <a:srgbClr val="F6F2E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Diamond 16"/>
          <p:cNvSpPr/>
          <p:nvPr/>
        </p:nvSpPr>
        <p:spPr>
          <a:xfrm>
            <a:off x="3337560" y="3150108"/>
            <a:ext cx="1188720" cy="96012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0312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474720" y="3150108"/>
            <a:ext cx="9144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0312B"/>
                </a:solidFill>
                <a:latin typeface="Inter"/>
              </a:rPr>
              <a:t>Auffällig?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3246120"/>
            <a:ext cx="1298448" cy="768096"/>
          </a:xfrm>
          <a:prstGeom prst="rect">
            <a:avLst/>
          </a:prstGeom>
          <a:solidFill>
            <a:srgbClr val="FFFFFF"/>
          </a:solidFill>
          <a:ln w="22225">
            <a:solidFill>
              <a:srgbClr val="2E8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029200" y="3319272"/>
            <a:ext cx="1115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312B"/>
                </a:solidFill>
                <a:latin typeface="Inter"/>
              </a:rPr>
              <a:t>Report zustellen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767327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2E8B67"/>
                </a:solidFill>
                <a:latin typeface="DM Mono"/>
              </a:rPr>
              <a:t>KI | K</a:t>
            </a:r>
          </a:p>
        </p:txBody>
      </p:sp>
      <p:sp>
        <p:nvSpPr>
          <p:cNvPr id="22" name="Oval 21"/>
          <p:cNvSpPr/>
          <p:nvPr/>
        </p:nvSpPr>
        <p:spPr>
          <a:xfrm>
            <a:off x="6126480" y="3136391"/>
            <a:ext cx="219456" cy="219456"/>
          </a:xfrm>
          <a:prstGeom prst="ellipse">
            <a:avLst/>
          </a:prstGeom>
          <a:solidFill>
            <a:srgbClr val="E1A23E"/>
          </a:solidFill>
          <a:ln w="19050">
            <a:solidFill>
              <a:srgbClr val="F6F2E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537960" y="3246120"/>
            <a:ext cx="1298448" cy="768096"/>
          </a:xfrm>
          <a:prstGeom prst="rect">
            <a:avLst/>
          </a:prstGeom>
          <a:solidFill>
            <a:srgbClr val="FFFFFF"/>
          </a:solidFill>
          <a:ln w="22225">
            <a:solidFill>
              <a:srgbClr val="2E8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629400" y="3319272"/>
            <a:ext cx="1115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312B"/>
                </a:solidFill>
                <a:latin typeface="Inter"/>
              </a:rPr>
              <a:t>Rückfragen klären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767327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2E8B67"/>
                </a:solidFill>
                <a:latin typeface="DM Mono"/>
              </a:rPr>
              <a:t>KI + HW | 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3246120"/>
            <a:ext cx="1298448" cy="768096"/>
          </a:xfrm>
          <a:prstGeom prst="rect">
            <a:avLst/>
          </a:prstGeom>
          <a:solidFill>
            <a:srgbClr val="FFFFFF"/>
          </a:solidFill>
          <a:ln w="22225">
            <a:solidFill>
              <a:srgbClr val="2E8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0" y="3319272"/>
            <a:ext cx="1115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312B"/>
                </a:solidFill>
                <a:latin typeface="Inter"/>
              </a:rPr>
              <a:t>Umsetzung nachfassen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767327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2E8B67"/>
                </a:solidFill>
                <a:latin typeface="DM Mono"/>
              </a:rPr>
              <a:t>KI · Tag 3 und 14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3264408"/>
            <a:ext cx="731520" cy="731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784080" y="326440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0">
                <a:solidFill>
                  <a:srgbClr val="10312B"/>
                </a:solidFill>
                <a:latin typeface="DM Serif Display"/>
              </a:rPr>
              <a:t>3</a:t>
            </a:r>
          </a:p>
        </p:txBody>
      </p:sp>
      <p:sp>
        <p:nvSpPr>
          <p:cNvPr id="31" name="Freeform 30"/>
          <p:cNvSpPr/>
          <p:nvPr/>
        </p:nvSpPr>
        <p:spPr>
          <a:xfrm>
            <a:off x="1417320" y="3630168"/>
            <a:ext cx="320040" cy="0"/>
          </a:xfrm>
          <a:custGeom>
            <a:avLst/>
            <a:gdLst/>
            <a:ahLst/>
            <a:cxnLst/>
            <a:rect l="l" t="t" r="r" b="b"/>
            <a:pathLst>
              <a:path w="320040" h="0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3035808" y="3630168"/>
            <a:ext cx="301752" cy="0"/>
          </a:xfrm>
          <a:custGeom>
            <a:avLst/>
            <a:gdLst/>
            <a:ahLst/>
            <a:cxnLst/>
            <a:rect l="l" t="t" r="r" b="b"/>
            <a:pathLst>
              <a:path w="301752" h="0">
                <a:moveTo>
                  <a:pt x="0" y="0"/>
                </a:moveTo>
                <a:lnTo>
                  <a:pt x="301752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4526280" y="3630168"/>
            <a:ext cx="411480" cy="0"/>
          </a:xfrm>
          <a:custGeom>
            <a:avLst/>
            <a:gdLst/>
            <a:ahLst/>
            <a:cxnLst/>
            <a:rect l="l" t="t" r="r" b="b"/>
            <a:pathLst>
              <a:path w="411480" h="0">
                <a:moveTo>
                  <a:pt x="0" y="0"/>
                </a:moveTo>
                <a:lnTo>
                  <a:pt x="411480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53712" y="3383279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312B"/>
                </a:solidFill>
                <a:latin typeface="Inter"/>
              </a:rPr>
              <a:t>nein</a:t>
            </a:r>
          </a:p>
        </p:txBody>
      </p:sp>
      <p:sp>
        <p:nvSpPr>
          <p:cNvPr id="35" name="Freeform 34"/>
          <p:cNvSpPr/>
          <p:nvPr/>
        </p:nvSpPr>
        <p:spPr>
          <a:xfrm>
            <a:off x="6236208" y="3630168"/>
            <a:ext cx="301752" cy="0"/>
          </a:xfrm>
          <a:custGeom>
            <a:avLst/>
            <a:gdLst/>
            <a:ahLst/>
            <a:cxnLst/>
            <a:rect l="l" t="t" r="r" b="b"/>
            <a:pathLst>
              <a:path w="301752" h="0">
                <a:moveTo>
                  <a:pt x="0" y="0"/>
                </a:moveTo>
                <a:lnTo>
                  <a:pt x="301752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7836408" y="3630168"/>
            <a:ext cx="301752" cy="0"/>
          </a:xfrm>
          <a:custGeom>
            <a:avLst/>
            <a:gdLst/>
            <a:ahLst/>
            <a:cxnLst/>
            <a:rect l="l" t="t" r="r" b="b"/>
            <a:pathLst>
              <a:path w="301752" h="0">
                <a:moveTo>
                  <a:pt x="0" y="0"/>
                </a:moveTo>
                <a:lnTo>
                  <a:pt x="301752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9436608" y="3630168"/>
            <a:ext cx="347472" cy="0"/>
          </a:xfrm>
          <a:custGeom>
            <a:avLst/>
            <a:gdLst/>
            <a:ahLst/>
            <a:cxnLst/>
            <a:rect l="l" t="t" r="r" b="b"/>
            <a:pathLst>
              <a:path w="347472" h="0">
                <a:moveTo>
                  <a:pt x="0" y="0"/>
                </a:moveTo>
                <a:lnTo>
                  <a:pt x="347472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737360" y="2194560"/>
            <a:ext cx="1298448" cy="530352"/>
          </a:xfrm>
          <a:prstGeom prst="rect">
            <a:avLst/>
          </a:prstGeom>
          <a:solidFill>
            <a:srgbClr val="DCE2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828800" y="2249424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312B"/>
                </a:solidFill>
                <a:latin typeface="DM Mono"/>
              </a:rPr>
              <a:t>DK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2450591"/>
            <a:ext cx="1115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0312B"/>
                </a:solidFill>
                <a:latin typeface="Inter"/>
              </a:rPr>
              <a:t>Report-Entwurf</a:t>
            </a:r>
          </a:p>
        </p:txBody>
      </p:sp>
      <p:sp>
        <p:nvSpPr>
          <p:cNvPr id="41" name="Freeform 40"/>
          <p:cNvSpPr/>
          <p:nvPr/>
        </p:nvSpPr>
        <p:spPr>
          <a:xfrm>
            <a:off x="2386584" y="2724912"/>
            <a:ext cx="0" cy="521208"/>
          </a:xfrm>
          <a:custGeom>
            <a:avLst/>
            <a:gdLst/>
            <a:ahLst/>
            <a:cxnLst/>
            <a:rect l="l" t="t" r="r" b="b"/>
            <a:pathLst>
              <a:path w="0" h="521208">
                <a:moveTo>
                  <a:pt x="0" y="0"/>
                </a:moveTo>
                <a:lnTo>
                  <a:pt x="0" y="521208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937760" y="2194560"/>
            <a:ext cx="1298448" cy="530352"/>
          </a:xfrm>
          <a:prstGeom prst="rect">
            <a:avLst/>
          </a:prstGeom>
          <a:solidFill>
            <a:srgbClr val="DCE2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029200" y="2249424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312B"/>
                </a:solidFill>
                <a:latin typeface="DM Mono"/>
              </a:rPr>
              <a:t>DK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2450591"/>
            <a:ext cx="1115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0312B"/>
                </a:solidFill>
                <a:latin typeface="Inter"/>
              </a:rPr>
              <a:t>Report-PDF</a:t>
            </a:r>
          </a:p>
        </p:txBody>
      </p:sp>
      <p:sp>
        <p:nvSpPr>
          <p:cNvPr id="45" name="Freeform 44"/>
          <p:cNvSpPr/>
          <p:nvPr/>
        </p:nvSpPr>
        <p:spPr>
          <a:xfrm>
            <a:off x="5586984" y="2724912"/>
            <a:ext cx="0" cy="521208"/>
          </a:xfrm>
          <a:custGeom>
            <a:avLst/>
            <a:gdLst/>
            <a:ahLst/>
            <a:cxnLst/>
            <a:rect l="l" t="t" r="r" b="b"/>
            <a:pathLst>
              <a:path w="0" h="521208">
                <a:moveTo>
                  <a:pt x="0" y="521208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37960" y="2194560"/>
            <a:ext cx="1298448" cy="530352"/>
          </a:xfrm>
          <a:prstGeom prst="rect">
            <a:avLst/>
          </a:prstGeom>
          <a:solidFill>
            <a:srgbClr val="DCE2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629400" y="2249424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312B"/>
                </a:solidFill>
                <a:latin typeface="DM Mono"/>
              </a:rPr>
              <a:t>DB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400" y="2450591"/>
            <a:ext cx="1115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0312B"/>
                </a:solidFill>
                <a:latin typeface="Inter"/>
              </a:rPr>
              <a:t>Kundenhistorie</a:t>
            </a:r>
          </a:p>
        </p:txBody>
      </p:sp>
      <p:sp>
        <p:nvSpPr>
          <p:cNvPr id="49" name="Freeform 48"/>
          <p:cNvSpPr/>
          <p:nvPr/>
        </p:nvSpPr>
        <p:spPr>
          <a:xfrm>
            <a:off x="7187184" y="2724912"/>
            <a:ext cx="0" cy="521208"/>
          </a:xfrm>
          <a:custGeom>
            <a:avLst/>
            <a:gdLst/>
            <a:ahLst/>
            <a:cxnLst/>
            <a:rect l="l" t="t" r="r" b="b"/>
            <a:pathLst>
              <a:path w="0" h="521208">
                <a:moveTo>
                  <a:pt x="0" y="521208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82696" y="4572000"/>
            <a:ext cx="1298448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10312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374136" y="4645152"/>
            <a:ext cx="1115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312B"/>
                </a:solidFill>
                <a:latin typeface="Inter"/>
              </a:rPr>
              <a:t>Prüfen und korrigieren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74136" y="5093208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C6B66"/>
                </a:solidFill>
                <a:latin typeface="DM Mono"/>
              </a:rPr>
              <a:t>HW</a:t>
            </a:r>
          </a:p>
        </p:txBody>
      </p:sp>
      <p:sp>
        <p:nvSpPr>
          <p:cNvPr id="53" name="Freeform 52"/>
          <p:cNvSpPr/>
          <p:nvPr/>
        </p:nvSpPr>
        <p:spPr>
          <a:xfrm>
            <a:off x="3931920" y="4110228"/>
            <a:ext cx="0" cy="461772"/>
          </a:xfrm>
          <a:custGeom>
            <a:avLst/>
            <a:gdLst/>
            <a:ahLst/>
            <a:cxnLst/>
            <a:rect l="l" t="t" r="r" b="b"/>
            <a:pathLst>
              <a:path w="0" h="461772">
                <a:moveTo>
                  <a:pt x="0" y="0"/>
                </a:moveTo>
                <a:lnTo>
                  <a:pt x="0" y="461772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95928" y="42519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312B"/>
                </a:solidFill>
                <a:latin typeface="Inter"/>
              </a:rPr>
              <a:t>ja</a:t>
            </a:r>
          </a:p>
        </p:txBody>
      </p:sp>
      <p:sp>
        <p:nvSpPr>
          <p:cNvPr id="55" name="Freeform 54"/>
          <p:cNvSpPr/>
          <p:nvPr/>
        </p:nvSpPr>
        <p:spPr>
          <a:xfrm>
            <a:off x="4581144" y="4014215"/>
            <a:ext cx="1005840" cy="941833"/>
          </a:xfrm>
          <a:custGeom>
            <a:avLst/>
            <a:gdLst/>
            <a:ahLst/>
            <a:cxnLst/>
            <a:rect l="l" t="t" r="r" b="b"/>
            <a:pathLst>
              <a:path w="1005840" h="941833">
                <a:moveTo>
                  <a:pt x="0" y="941833"/>
                </a:moveTo>
                <a:lnTo>
                  <a:pt x="1005840" y="941833"/>
                </a:lnTo>
                <a:lnTo>
                  <a:pt x="1005840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568756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312B"/>
                </a:solidFill>
                <a:latin typeface="Inter"/>
              </a:rPr>
              <a:t>K</a:t>
            </a:r>
            <a:r>
              <a:rPr sz="900" b="0">
                <a:solidFill>
                  <a:srgbClr val="5C6B66"/>
                </a:solidFill>
                <a:latin typeface="Inter"/>
              </a:rPr>
              <a:t> = Vermieter     </a:t>
            </a:r>
            <a:r>
              <a:rPr sz="900" b="1">
                <a:solidFill>
                  <a:srgbClr val="2E8B67"/>
                </a:solidFill>
                <a:latin typeface="Inter"/>
              </a:rPr>
              <a:t>KI</a:t>
            </a:r>
            <a:r>
              <a:rPr sz="900" b="0">
                <a:solidFill>
                  <a:srgbClr val="5C6B66"/>
                </a:solidFill>
                <a:latin typeface="Inter"/>
              </a:rPr>
              <a:t> = automatisiert     </a:t>
            </a:r>
            <a:r>
              <a:rPr sz="900" b="1">
                <a:solidFill>
                  <a:srgbClr val="10312B"/>
                </a:solidFill>
                <a:latin typeface="Inter"/>
              </a:rPr>
              <a:t>HW</a:t>
            </a:r>
            <a:r>
              <a:rPr sz="900" b="0">
                <a:solidFill>
                  <a:srgbClr val="5C6B66"/>
                </a:solidFill>
                <a:latin typeface="Inter"/>
              </a:rPr>
              <a:t> = hostwise-Team</a:t>
            </a:r>
          </a:p>
        </p:txBody>
      </p:sp>
      <p:sp>
        <p:nvSpPr>
          <p:cNvPr id="57" name="Oval 56"/>
          <p:cNvSpPr/>
          <p:nvPr/>
        </p:nvSpPr>
        <p:spPr>
          <a:xfrm>
            <a:off x="4846320" y="5710428"/>
            <a:ext cx="155448" cy="155448"/>
          </a:xfrm>
          <a:prstGeom prst="ellipse">
            <a:avLst/>
          </a:prstGeom>
          <a:solidFill>
            <a:srgbClr val="E1A23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5074920" y="568756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B66"/>
                </a:solidFill>
                <a:latin typeface="Inter"/>
              </a:rPr>
              <a:t>früher vom Team erledigt, jetzt automatisiert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0312B"/>
                </a:solidFill>
                <a:latin typeface="DM Serif Display"/>
              </a:rPr>
              <a:t>hostwise</a:t>
            </a:r>
            <a:r>
              <a:rPr sz="1500" b="0">
                <a:solidFill>
                  <a:srgbClr val="E1A23E"/>
                </a:solidFill>
                <a:latin typeface="DM Serif Display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9319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TEILPROZESS 4 VON 4 · BINDUNG &amp; MONITORING</a:t>
            </a:r>
          </a:p>
        </p:txBody>
      </p:sp>
      <p:sp>
        <p:nvSpPr>
          <p:cNvPr id="4" name="Freeform 3"/>
          <p:cNvSpPr/>
          <p:nvPr/>
        </p:nvSpPr>
        <p:spPr>
          <a:xfrm>
            <a:off x="685800" y="786384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1A23E"/>
                </a:solidFill>
                <a:latin typeface="DM Mono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3171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10312B"/>
                </a:solidFill>
                <a:latin typeface="DM Serif Display"/>
              </a:rPr>
              <a:t>Das Monitor-Abo macht aus dem Einmalkauf wiederkehrenden Umsatz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B66"/>
                </a:solidFill>
                <a:latin typeface="Inter"/>
              </a:rPr>
              <a:t>Feedback und Bewertungen fließen in Testimonials und in die Verbesserung des Analyse-Prompts.</a:t>
            </a:r>
          </a:p>
        </p:txBody>
      </p:sp>
      <p:sp>
        <p:nvSpPr>
          <p:cNvPr id="8" name="Freeform 7"/>
          <p:cNvSpPr/>
          <p:nvPr/>
        </p:nvSpPr>
        <p:spPr>
          <a:xfrm>
            <a:off x="685800" y="6382512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HOSTWISE · ENTREPRENEURSHIP &amp; SERVICEENTWICKLUNG · HM WS 2026/27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7095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SEITE 14 / 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264408"/>
            <a:ext cx="731520" cy="731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" y="326440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0">
                <a:solidFill>
                  <a:srgbClr val="10312B"/>
                </a:solidFill>
                <a:latin typeface="DM Serif Display"/>
              </a:rPr>
              <a:t>3</a:t>
            </a:r>
          </a:p>
        </p:txBody>
      </p:sp>
      <p:sp>
        <p:nvSpPr>
          <p:cNvPr id="13" name="Diamond 12"/>
          <p:cNvSpPr/>
          <p:nvPr/>
        </p:nvSpPr>
        <p:spPr>
          <a:xfrm>
            <a:off x="1737360" y="3150108"/>
            <a:ext cx="1188720" cy="96012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0312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874519" y="3150108"/>
            <a:ext cx="9144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0312B"/>
                </a:solidFill>
                <a:latin typeface="Inter"/>
              </a:rPr>
              <a:t>Monitor-Abo?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3246120"/>
            <a:ext cx="1298448" cy="768096"/>
          </a:xfrm>
          <a:prstGeom prst="rect">
            <a:avLst/>
          </a:prstGeom>
          <a:solidFill>
            <a:srgbClr val="ECE5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319272"/>
            <a:ext cx="1115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312B"/>
                </a:solidFill>
                <a:latin typeface="Inter"/>
              </a:rPr>
              <a:t>Abo abschließen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767327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C6B66"/>
                </a:solidFill>
                <a:latin typeface="DM Mono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3246120"/>
            <a:ext cx="1298448" cy="768096"/>
          </a:xfrm>
          <a:prstGeom prst="rect">
            <a:avLst/>
          </a:prstGeom>
          <a:solidFill>
            <a:srgbClr val="FFFFFF"/>
          </a:solidFill>
          <a:ln w="22225">
            <a:solidFill>
              <a:srgbClr val="2E8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029200" y="3319272"/>
            <a:ext cx="1115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312B"/>
                </a:solidFill>
                <a:latin typeface="Inter"/>
              </a:rPr>
              <a:t>Monatlicher Re-Check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767327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2E8B67"/>
                </a:solidFill>
                <a:latin typeface="DM Mono"/>
              </a:rPr>
              <a:t>KI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3246120"/>
            <a:ext cx="1298448" cy="768096"/>
          </a:xfrm>
          <a:prstGeom prst="rect">
            <a:avLst/>
          </a:prstGeom>
          <a:solidFill>
            <a:srgbClr val="FFFFFF"/>
          </a:solidFill>
          <a:ln w="22225">
            <a:solidFill>
              <a:srgbClr val="2E8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629400" y="3319272"/>
            <a:ext cx="1115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312B"/>
                </a:solidFill>
                <a:latin typeface="Inter"/>
              </a:rPr>
              <a:t>Delta-Report zustellen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767327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2E8B67"/>
                </a:solidFill>
                <a:latin typeface="DM Mono"/>
              </a:rPr>
              <a:t>KI | K</a:t>
            </a:r>
          </a:p>
        </p:txBody>
      </p:sp>
      <p:sp>
        <p:nvSpPr>
          <p:cNvPr id="24" name="Oval 23"/>
          <p:cNvSpPr/>
          <p:nvPr/>
        </p:nvSpPr>
        <p:spPr>
          <a:xfrm>
            <a:off x="7726680" y="3136391"/>
            <a:ext cx="219456" cy="219456"/>
          </a:xfrm>
          <a:prstGeom prst="ellipse">
            <a:avLst/>
          </a:prstGeom>
          <a:solidFill>
            <a:srgbClr val="E1A23E"/>
          </a:solidFill>
          <a:ln w="19050">
            <a:solidFill>
              <a:srgbClr val="F6F2E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138160" y="3246120"/>
            <a:ext cx="1298448" cy="768096"/>
          </a:xfrm>
          <a:prstGeom prst="rect">
            <a:avLst/>
          </a:prstGeom>
          <a:solidFill>
            <a:srgbClr val="FFFFFF"/>
          </a:solidFill>
          <a:ln w="22225">
            <a:solidFill>
              <a:srgbClr val="2E8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29600" y="3319272"/>
            <a:ext cx="1115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312B"/>
                </a:solidFill>
                <a:latin typeface="Inter"/>
              </a:rPr>
              <a:t>Feedback einholen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767327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2E8B67"/>
                </a:solidFill>
                <a:latin typeface="DM Mono"/>
              </a:rPr>
              <a:t>KI | K</a:t>
            </a:r>
          </a:p>
        </p:txBody>
      </p:sp>
      <p:sp>
        <p:nvSpPr>
          <p:cNvPr id="28" name="Oval 27"/>
          <p:cNvSpPr/>
          <p:nvPr/>
        </p:nvSpPr>
        <p:spPr>
          <a:xfrm>
            <a:off x="9326880" y="3136391"/>
            <a:ext cx="219456" cy="219456"/>
          </a:xfrm>
          <a:prstGeom prst="ellipse">
            <a:avLst/>
          </a:prstGeom>
          <a:solidFill>
            <a:srgbClr val="E1A23E"/>
          </a:solidFill>
          <a:ln w="19050">
            <a:solidFill>
              <a:srgbClr val="F6F2E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784080" y="3195827"/>
            <a:ext cx="868680" cy="868680"/>
          </a:xfrm>
          <a:prstGeom prst="ellipse">
            <a:avLst/>
          </a:prstGeom>
          <a:solidFill>
            <a:srgbClr val="1031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784080" y="3195827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6F2EA"/>
                </a:solidFill>
                <a:latin typeface="Inter"/>
              </a:rPr>
              <a:t>Ende</a:t>
            </a:r>
          </a:p>
        </p:txBody>
      </p:sp>
      <p:sp>
        <p:nvSpPr>
          <p:cNvPr id="31" name="Freeform 30"/>
          <p:cNvSpPr/>
          <p:nvPr/>
        </p:nvSpPr>
        <p:spPr>
          <a:xfrm>
            <a:off x="1417320" y="3630168"/>
            <a:ext cx="320040" cy="0"/>
          </a:xfrm>
          <a:custGeom>
            <a:avLst/>
            <a:gdLst/>
            <a:ahLst/>
            <a:cxnLst/>
            <a:rect l="l" t="t" r="r" b="b"/>
            <a:pathLst>
              <a:path w="320040" h="0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2926080" y="3630168"/>
            <a:ext cx="411480" cy="0"/>
          </a:xfrm>
          <a:custGeom>
            <a:avLst/>
            <a:gdLst/>
            <a:ahLst/>
            <a:cxnLst/>
            <a:rect l="l" t="t" r="r" b="b"/>
            <a:pathLst>
              <a:path w="411480" h="0">
                <a:moveTo>
                  <a:pt x="0" y="0"/>
                </a:moveTo>
                <a:lnTo>
                  <a:pt x="411480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53512" y="3383279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312B"/>
                </a:solidFill>
                <a:latin typeface="Inter"/>
              </a:rPr>
              <a:t>ja</a:t>
            </a:r>
          </a:p>
        </p:txBody>
      </p:sp>
      <p:sp>
        <p:nvSpPr>
          <p:cNvPr id="34" name="Freeform 33"/>
          <p:cNvSpPr/>
          <p:nvPr/>
        </p:nvSpPr>
        <p:spPr>
          <a:xfrm>
            <a:off x="4636008" y="3630168"/>
            <a:ext cx="301752" cy="0"/>
          </a:xfrm>
          <a:custGeom>
            <a:avLst/>
            <a:gdLst/>
            <a:ahLst/>
            <a:cxnLst/>
            <a:rect l="l" t="t" r="r" b="b"/>
            <a:pathLst>
              <a:path w="301752" h="0">
                <a:moveTo>
                  <a:pt x="0" y="0"/>
                </a:moveTo>
                <a:lnTo>
                  <a:pt x="301752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236208" y="3630168"/>
            <a:ext cx="301752" cy="0"/>
          </a:xfrm>
          <a:custGeom>
            <a:avLst/>
            <a:gdLst/>
            <a:ahLst/>
            <a:cxnLst/>
            <a:rect l="l" t="t" r="r" b="b"/>
            <a:pathLst>
              <a:path w="301752" h="0">
                <a:moveTo>
                  <a:pt x="0" y="0"/>
                </a:moveTo>
                <a:lnTo>
                  <a:pt x="301752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7836408" y="3630168"/>
            <a:ext cx="301752" cy="0"/>
          </a:xfrm>
          <a:custGeom>
            <a:avLst/>
            <a:gdLst/>
            <a:ahLst/>
            <a:cxnLst/>
            <a:rect l="l" t="t" r="r" b="b"/>
            <a:pathLst>
              <a:path w="301752" h="0">
                <a:moveTo>
                  <a:pt x="0" y="0"/>
                </a:moveTo>
                <a:lnTo>
                  <a:pt x="301752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9436608" y="3630168"/>
            <a:ext cx="347472" cy="0"/>
          </a:xfrm>
          <a:custGeom>
            <a:avLst/>
            <a:gdLst/>
            <a:ahLst/>
            <a:cxnLst/>
            <a:rect l="l" t="t" r="r" b="b"/>
            <a:pathLst>
              <a:path w="347472" h="0">
                <a:moveTo>
                  <a:pt x="0" y="0"/>
                </a:moveTo>
                <a:lnTo>
                  <a:pt x="347472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37560" y="2194560"/>
            <a:ext cx="1298448" cy="530352"/>
          </a:xfrm>
          <a:prstGeom prst="rect">
            <a:avLst/>
          </a:prstGeom>
          <a:solidFill>
            <a:srgbClr val="DCE2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3429000" y="2249424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312B"/>
                </a:solidFill>
                <a:latin typeface="DM Mono"/>
              </a:rPr>
              <a:t>DK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9000" y="2450591"/>
            <a:ext cx="1115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0312B"/>
                </a:solidFill>
                <a:latin typeface="Inter"/>
              </a:rPr>
              <a:t>Abo-Vertrag</a:t>
            </a:r>
          </a:p>
        </p:txBody>
      </p:sp>
      <p:sp>
        <p:nvSpPr>
          <p:cNvPr id="41" name="Freeform 40"/>
          <p:cNvSpPr/>
          <p:nvPr/>
        </p:nvSpPr>
        <p:spPr>
          <a:xfrm>
            <a:off x="3986783" y="2724912"/>
            <a:ext cx="0" cy="521208"/>
          </a:xfrm>
          <a:custGeom>
            <a:avLst/>
            <a:gdLst/>
            <a:ahLst/>
            <a:cxnLst/>
            <a:rect l="l" t="t" r="r" b="b"/>
            <a:pathLst>
              <a:path w="0" h="521208">
                <a:moveTo>
                  <a:pt x="0" y="521208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937760" y="2194560"/>
            <a:ext cx="1298448" cy="530352"/>
          </a:xfrm>
          <a:prstGeom prst="rect">
            <a:avLst/>
          </a:prstGeom>
          <a:solidFill>
            <a:srgbClr val="DCE2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029200" y="2249424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312B"/>
                </a:solidFill>
                <a:latin typeface="DM Mono"/>
              </a:rPr>
              <a:t>DK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2450591"/>
            <a:ext cx="1115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0312B"/>
                </a:solidFill>
                <a:latin typeface="Inter"/>
              </a:rPr>
              <a:t>Delta-Report</a:t>
            </a:r>
          </a:p>
        </p:txBody>
      </p:sp>
      <p:sp>
        <p:nvSpPr>
          <p:cNvPr id="45" name="Freeform 44"/>
          <p:cNvSpPr/>
          <p:nvPr/>
        </p:nvSpPr>
        <p:spPr>
          <a:xfrm>
            <a:off x="5586984" y="2724912"/>
            <a:ext cx="0" cy="521208"/>
          </a:xfrm>
          <a:custGeom>
            <a:avLst/>
            <a:gdLst/>
            <a:ahLst/>
            <a:cxnLst/>
            <a:rect l="l" t="t" r="r" b="b"/>
            <a:pathLst>
              <a:path w="0" h="521208">
                <a:moveTo>
                  <a:pt x="0" y="521208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38160" y="2194560"/>
            <a:ext cx="1298448" cy="530352"/>
          </a:xfrm>
          <a:prstGeom prst="rect">
            <a:avLst/>
          </a:prstGeom>
          <a:solidFill>
            <a:srgbClr val="DCE2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229600" y="2249424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312B"/>
                </a:solidFill>
                <a:latin typeface="DM Mono"/>
              </a:rPr>
              <a:t>DB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2450591"/>
            <a:ext cx="1115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0312B"/>
                </a:solidFill>
                <a:latin typeface="Inter"/>
              </a:rPr>
              <a:t>Feedback</a:t>
            </a:r>
          </a:p>
        </p:txBody>
      </p:sp>
      <p:sp>
        <p:nvSpPr>
          <p:cNvPr id="49" name="Freeform 48"/>
          <p:cNvSpPr/>
          <p:nvPr/>
        </p:nvSpPr>
        <p:spPr>
          <a:xfrm>
            <a:off x="8787384" y="2724912"/>
            <a:ext cx="0" cy="521208"/>
          </a:xfrm>
          <a:custGeom>
            <a:avLst/>
            <a:gdLst/>
            <a:ahLst/>
            <a:cxnLst/>
            <a:rect l="l" t="t" r="r" b="b"/>
            <a:pathLst>
              <a:path w="0" h="521208">
                <a:moveTo>
                  <a:pt x="0" y="521208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5262372" y="4014215"/>
            <a:ext cx="649224" cy="274321"/>
          </a:xfrm>
          <a:custGeom>
            <a:avLst/>
            <a:gdLst/>
            <a:ahLst/>
            <a:cxnLst/>
            <a:rect l="l" t="t" r="r" b="b"/>
            <a:pathLst>
              <a:path w="649224" h="274321">
                <a:moveTo>
                  <a:pt x="649224" y="0"/>
                </a:moveTo>
                <a:lnTo>
                  <a:pt x="649224" y="274321"/>
                </a:lnTo>
                <a:lnTo>
                  <a:pt x="0" y="274321"/>
                </a:lnTo>
                <a:lnTo>
                  <a:pt x="0" y="0"/>
                </a:lnTo>
              </a:path>
            </a:pathLst>
          </a:custGeom>
          <a:noFill/>
          <a:ln w="11430">
            <a:solidFill>
              <a:srgbClr val="2E8B67"/>
            </a:solidFill>
            <a:prstDash val="dash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37760" y="4343400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2E8B67"/>
                </a:solidFill>
                <a:latin typeface="Inter"/>
              </a:rPr>
              <a:t>monatlich wiederholt</a:t>
            </a:r>
          </a:p>
        </p:txBody>
      </p:sp>
      <p:sp>
        <p:nvSpPr>
          <p:cNvPr id="52" name="Freeform 51"/>
          <p:cNvSpPr/>
          <p:nvPr/>
        </p:nvSpPr>
        <p:spPr>
          <a:xfrm>
            <a:off x="2331720" y="4014215"/>
            <a:ext cx="6455664" cy="969265"/>
          </a:xfrm>
          <a:custGeom>
            <a:avLst/>
            <a:gdLst/>
            <a:ahLst/>
            <a:cxnLst/>
            <a:rect l="l" t="t" r="r" b="b"/>
            <a:pathLst>
              <a:path w="6455664" h="969265">
                <a:moveTo>
                  <a:pt x="0" y="96013"/>
                </a:moveTo>
                <a:lnTo>
                  <a:pt x="0" y="969265"/>
                </a:lnTo>
                <a:lnTo>
                  <a:pt x="6455664" y="969265"/>
                </a:lnTo>
                <a:lnTo>
                  <a:pt x="6455664" y="0"/>
                </a:lnTo>
              </a:path>
            </a:pathLst>
          </a:custGeom>
          <a:noFill/>
          <a:ln w="11430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95728" y="420624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312B"/>
                </a:solidFill>
                <a:latin typeface="Inter"/>
              </a:rPr>
              <a:t>nein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568756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312B"/>
                </a:solidFill>
                <a:latin typeface="Inter"/>
              </a:rPr>
              <a:t>K</a:t>
            </a:r>
            <a:r>
              <a:rPr sz="900" b="0">
                <a:solidFill>
                  <a:srgbClr val="5C6B66"/>
                </a:solidFill>
                <a:latin typeface="Inter"/>
              </a:rPr>
              <a:t> = Vermieter     </a:t>
            </a:r>
            <a:r>
              <a:rPr sz="900" b="1">
                <a:solidFill>
                  <a:srgbClr val="2E8B67"/>
                </a:solidFill>
                <a:latin typeface="Inter"/>
              </a:rPr>
              <a:t>KI</a:t>
            </a:r>
            <a:r>
              <a:rPr sz="900" b="0">
                <a:solidFill>
                  <a:srgbClr val="5C6B66"/>
                </a:solidFill>
                <a:latin typeface="Inter"/>
              </a:rPr>
              <a:t> = automatisiert     </a:t>
            </a:r>
            <a:r>
              <a:rPr sz="900" b="1">
                <a:solidFill>
                  <a:srgbClr val="10312B"/>
                </a:solidFill>
                <a:latin typeface="Inter"/>
              </a:rPr>
              <a:t>HW</a:t>
            </a:r>
            <a:r>
              <a:rPr sz="900" b="0">
                <a:solidFill>
                  <a:srgbClr val="5C6B66"/>
                </a:solidFill>
                <a:latin typeface="Inter"/>
              </a:rPr>
              <a:t> = hostwise-Team</a:t>
            </a:r>
          </a:p>
        </p:txBody>
      </p:sp>
      <p:sp>
        <p:nvSpPr>
          <p:cNvPr id="55" name="Oval 54"/>
          <p:cNvSpPr/>
          <p:nvPr/>
        </p:nvSpPr>
        <p:spPr>
          <a:xfrm>
            <a:off x="4846320" y="5710428"/>
            <a:ext cx="155448" cy="155448"/>
          </a:xfrm>
          <a:prstGeom prst="ellipse">
            <a:avLst/>
          </a:prstGeom>
          <a:solidFill>
            <a:srgbClr val="E1A23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074920" y="568756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B66"/>
                </a:solidFill>
                <a:latin typeface="Inter"/>
              </a:rPr>
              <a:t>früher vom Team erledigt, jetzt automatisiert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